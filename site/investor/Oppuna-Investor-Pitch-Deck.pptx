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Open with the live product: Oppuna is a privacy-first, offline, multilingual and voice-enabled CBT-informed emotional-wellness application on Android.
Investment thesis preview: consumer proof point for a privacy-first on-device CBT-informed wellness engine; Plus and institutional programs for early revenue; longer-term SDK for platform leverage.
Boundary: supports everyday self-reflection—does not diagnose, treat or replace professional or emergency care.
SOURCES
- https://oppuna.com
- Google Play: https://play.google.com/store/apps/details?id=com.oppuna.care
- Cover screenshot: captured from the current Oppuna application UI (running build), Aug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Keep cultural explanation respectful and brief. No costume imagery. Singular founder voice.
SOURCES
- D. N. Shankara Bhat, The Koraga Language — documents Koraga verb root oppu (“to be agreeable / to be in accord”): https://dnshankarabhat.net/wp-content/uploads/2014/11/Koraga_Language.pdf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Separate prevalence statistics from the commercial wedge. Do not imply every person with a mental disorder is a customer.
SOURCES
- NIMHANS National Mental Health Survey of India 2015–16 (current morbidity ~10.6%; treatment gap often cited 70–92%): WHO SEARO summary https://cdn.who.int/media/docs/default-source/searo/india/health-topic-pdf/summary.pdf ; PIB https://www.pib.gov.in/PressReleasePage.aspx?PRID=2188003
- IAMAI–Kantar Internet in India Report 2025: 958M AIU — https://www.indiadigitalsummit.in/wp-content/uploads/2026/01/Internet-in-India-2025-Press-Release-Final.pdf
- Statcounter Mobile OS India: https://gs.statcounter.com/os-market-share/mobile/india/
- Product boundary: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(~45s)
Position as architecture opportunity, not hype. Do not invent a multiplied TAM from AIU × Android share.
SOURCES
- Product capabilities: https://oppuna.com ; https://oppuna.com/privacy/
- India AIU and Android OS share: IAMAI–Kantar 2025; Statcounter India mobile OS (cited on slide 3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This is the differentiation slide: structured CBT-informed mechanism, not a generic chatbot or meditation library.
Repeat boundary language.
SOURCES
- Product feature set: https://oppuna.com
- Positioning: CBT-informed emotional wellness (founder product brief, Aug 2026).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Walk the realistic journey with current in-app screenshots: mood check-in → daily plan → journal / thought record → talk with companion → return home to observe patterns.
SOURCES
- Screenshots: captured from the current Oppuna application UI (running build), Aug 2026
- Journey capabilities: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(~45s)
Do not claim perfect safety, certifications or clinical validation. Separate shipped from funded.
SOURCES
- Privacy and architecture: https://oppuna.com/privacy/ ; docs/DATA_PROTECTION.md in product repo (SQLite not SQLCipher-encrypted today)
- App lock implementation present in application code (expo-local-authentication / SecureStore)
- Crisis resources on site: 112, Tele-MANAS, KIRAN via official government pages linked from oppuna.com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(~35s)
Present as early signal, not product-market fit proof. Methodology detail is in Appendix 1.
SOURCES
- Founder-reported early-user tracking (Aug 2026)
- https://play.google.com/store/apps/details?id=com.oppuna.care
-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(~45s)
Do not multiply AIU × Android share into a validated TAM. Keep segment qualitative + 18-month target quantitative.
SOURCES
- IAMAI–Kantar Internet in India 2025 (958M AIU)
- Statcounter India mobile OS (Android ~94.8%, Mar 2025 snapshot)
- NMHS for clinical context only (slide 3)
- 18-month targets aligned with raise plan (slide 14)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Sequence matters: free core first; Plus and institutional after proof; SDK is longer-term leverage—not four equal immediate businesses.
SOURCES
- Business sequence and pricing hypothesis: founder strategy brief, Aug 2026
- Free-core capabilities: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Do not invent signed partnerships. Phase 2 follows retention proof.
SOURCES
- GTM phasing and 1,000-user checkpoint: founder strategy brief, Aug 2026
- Current channel: Google Play listing for com.oppuna.care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Correct prior overclaims: Calm/Headspace can offer offline playback of downloaded content; do not claim they have ads as a core model. Wysa offers anonymous usage but processes conversations on cloud servers (AWS) per its privacy policy.
SOURCES
- Wysa Privacy Policy (cloud/AWS storage; AI/LLM processing): https://legal.wysa.io/privacy-policy
- Wysa FAQ (anonymous usage; connectivity/service model): https://www.wysa.com/faq
- Calm Premium / content platform: https://support.calm.com/hc/en-us/articles/360008536834-Calm-Premium-vs-Free-Features-Content-List-Benefits
- Headspace account/subscription model: https://www.headspace.com/
- Calm/Headspace offline downloads commonly documented in vendor help centres (downloaded sessions may work offline)
- Oppuna local-first claims: https://oppuna.com/privacy/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Solo founder. Do not invent additional founders, advisors or clinical staff. Emphasise capital-efficient execution and enterprise-grade systems experience applied to privacy-sensitive consumer AI.
SOURCES
- Founder credentials and narrative: founder brief, Aug 2026
- Execution evidence: live Android app on Google Play; website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(~55s)
Close on the ₹1 crore pre-seed ask and 18-month milestones. No equity % or valuation. CTA: fundraising conversation.
SOURCES
- Raise plan and milestones: founder fundraising brief, Aug 2026
- Contact: https://oppuna.com ; mailto:support@oppuna.com
- Play: https://play.google.com/store/apps/details?id=com.oppuna.care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Investor diligence detail for the early return measure.
SOURCES
- Founder-reported early-user tracking, Aug 2026
- Future source of truth: Google Play Console retention / cohort reports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Clear separation of shipped vs funded. Database encryption is funded, not shipped.
SOURCES
- https://oppuna.com/privacy/
- Product data-protection notes: SQLite currently not SQLCipher-encrypted; app lock exists via device authentication APIs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Status labels matter for diligence: shipped vs in development vs future vs hypothesis.
SOURCES
- Shipped capabilities: https://oppuna.com
- Roadmap sequencing: founder strategy brief, Aug 2026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Point investors to primary sources. Prefer official pages over secondary blogs.
Additional references
- WHO SEARO NMHS summary PDF
- IAMAI–Kantar press PDF (India Digital Summit, Jan 2026)
- Calm Premium help article; Headspace site for account/subscription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oppuna.com" TargetMode="External"/><Relationship Id="rId4" Type="http://schemas.openxmlformats.org/officeDocument/2006/relationships/image" Target="../media/image2.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2.jp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ppuna.com" TargetMode="External"/><Relationship Id="rId3" Type="http://schemas.openxmlformats.org/officeDocument/2006/relationships/hyperlink" Target="mailto:support@oppuna.com" TargetMode="External"/><Relationship Id="rId4" Type="http://schemas.openxmlformats.org/officeDocument/2006/relationships/image" Target="../media/image7.png"/><Relationship Id="rId5" Type="http://schemas.openxmlformats.org/officeDocument/2006/relationships/hyperlink" Target="https://play.google.com/store/apps/details?id=com.oppuna.care" TargetMode="Externa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937760" cy="685800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con.png"/>
          <p:cNvPicPr>
            <a:picLocks noChangeAspect="1"/>
          </p:cNvPicPr>
          <p:nvPr/>
        </p:nvPicPr>
        <p:blipFill>
          <a:blip r:embed="rId2"/>
          <a:stretch>
            <a:fillRect/>
          </a:stretch>
        </p:blipFill>
        <p:spPr>
          <a:xfrm>
            <a:off x="685800" y="640080"/>
            <a:ext cx="777240" cy="777240"/>
          </a:xfrm>
          <a:prstGeom prst="rect">
            <a:avLst/>
          </a:prstGeom>
        </p:spPr>
      </p:pic>
      <p:sp>
        <p:nvSpPr>
          <p:cNvPr id="5" name="TextBox 4"/>
          <p:cNvSpPr txBox="1"/>
          <p:nvPr/>
        </p:nvSpPr>
        <p:spPr>
          <a:xfrm>
            <a:off x="685800" y="1691640"/>
            <a:ext cx="3840480" cy="777240"/>
          </a:xfrm>
          <a:prstGeom prst="rect">
            <a:avLst/>
          </a:prstGeom>
          <a:noFill/>
        </p:spPr>
        <p:txBody>
          <a:bodyPr wrap="square" anchor="t">
            <a:spAutoFit/>
          </a:bodyPr>
          <a:lstStyle/>
          <a:p>
            <a:pPr algn="l"/>
            <a:r>
              <a:rPr sz="5200" b="1">
                <a:solidFill>
                  <a:srgbClr val="FFFFFF"/>
                </a:solidFill>
                <a:latin typeface="Fraunces"/>
                <a:ea typeface="Fraunces"/>
                <a:cs typeface="Fraunces"/>
              </a:rPr>
              <a:t>Oppuna</a:t>
            </a:r>
          </a:p>
        </p:txBody>
      </p:sp>
      <p:sp>
        <p:nvSpPr>
          <p:cNvPr id="6" name="TextBox 5"/>
          <p:cNvSpPr txBox="1"/>
          <p:nvPr/>
        </p:nvSpPr>
        <p:spPr>
          <a:xfrm>
            <a:off x="685800" y="2514600"/>
            <a:ext cx="3840480" cy="640080"/>
          </a:xfrm>
          <a:prstGeom prst="rect">
            <a:avLst/>
          </a:prstGeom>
          <a:noFill/>
        </p:spPr>
        <p:txBody>
          <a:bodyPr wrap="square" anchor="t">
            <a:spAutoFit/>
          </a:bodyPr>
          <a:lstStyle/>
          <a:p>
            <a:pPr algn="l"/>
            <a:r>
              <a:rPr sz="2400" b="1">
                <a:solidFill>
                  <a:srgbClr val="DCE8E2"/>
                </a:solidFill>
                <a:latin typeface="Fraunces"/>
                <a:ea typeface="Fraunces"/>
                <a:cs typeface="Fraunces"/>
              </a:rPr>
              <a:t>Private AI for your thoughts.</a:t>
            </a:r>
          </a:p>
        </p:txBody>
      </p:sp>
      <p:sp>
        <p:nvSpPr>
          <p:cNvPr id="7" name="TextBox 6"/>
          <p:cNvSpPr txBox="1"/>
          <p:nvPr/>
        </p:nvSpPr>
        <p:spPr>
          <a:xfrm>
            <a:off x="685800" y="3291840"/>
            <a:ext cx="3840480" cy="1005840"/>
          </a:xfrm>
          <a:prstGeom prst="rect">
            <a:avLst/>
          </a:prstGeom>
          <a:noFill/>
        </p:spPr>
        <p:txBody>
          <a:bodyPr wrap="square" anchor="t">
            <a:spAutoFit/>
          </a:bodyPr>
          <a:lstStyle/>
          <a:p>
            <a:pPr algn="l"/>
            <a:r>
              <a:rPr sz="1600" b="0">
                <a:solidFill>
                  <a:srgbClr val="FFFFFF"/>
                </a:solidFill>
                <a:latin typeface="Outfit"/>
                <a:ea typeface="Outfit"/>
                <a:cs typeface="Outfit"/>
              </a:rPr>
              <a:t>Offline, multilingual and CBT-informed emotional wellness on Android</a:t>
            </a:r>
          </a:p>
        </p:txBody>
      </p:sp>
      <p:sp>
        <p:nvSpPr>
          <p:cNvPr id="8" name="TextBox 7"/>
          <p:cNvSpPr txBox="1"/>
          <p:nvPr/>
        </p:nvSpPr>
        <p:spPr>
          <a:xfrm>
            <a:off x="685800" y="4709160"/>
            <a:ext cx="3840480" cy="411480"/>
          </a:xfrm>
          <a:prstGeom prst="rect">
            <a:avLst/>
          </a:prstGeom>
          <a:noFill/>
        </p:spPr>
        <p:txBody>
          <a:bodyPr wrap="square" anchor="t">
            <a:spAutoFit/>
          </a:bodyPr>
          <a:lstStyle/>
          <a:p>
            <a:pPr algn="l"/>
            <a:r>
              <a:rPr sz="1400" b="0">
                <a:solidFill>
                  <a:srgbClr val="FFFFFF"/>
                </a:solidFill>
                <a:latin typeface="Outfit"/>
                <a:ea typeface="Outfit"/>
                <a:cs typeface="Outfit"/>
              </a:rPr>
              <a:t>Kaushik I B · Founder &amp; Product/AI Architect</a:t>
            </a:r>
          </a:p>
        </p:txBody>
      </p:sp>
      <p:sp>
        <p:nvSpPr>
          <p:cNvPr id="9" name="TextBox 8">
            <a:hlinkClick r:id="rId3"/>
          </p:cNvPr>
          <p:cNvSpPr txBox="1"/>
          <p:nvPr/>
        </p:nvSpPr>
        <p:spPr>
          <a:xfrm>
            <a:off x="685800" y="5166360"/>
            <a:ext cx="3840480" cy="320040"/>
          </a:xfrm>
          <a:prstGeom prst="rect">
            <a:avLst/>
          </a:prstGeom>
          <a:noFill/>
        </p:spPr>
        <p:txBody>
          <a:bodyPr wrap="square" anchor="t">
            <a:spAutoFit/>
          </a:bodyPr>
          <a:lstStyle/>
          <a:p>
            <a:pPr algn="l"/>
            <a:r>
              <a:rPr sz="1400" b="0">
                <a:solidFill>
                  <a:srgbClr val="DCE8E2"/>
                </a:solidFill>
                <a:latin typeface="Outfit"/>
                <a:ea typeface="Outfit"/>
                <a:cs typeface="Outfit"/>
              </a:rPr>
              <a:t>https://oppuna.com</a:t>
            </a:r>
          </a:p>
        </p:txBody>
      </p:sp>
      <p:pic>
        <p:nvPicPr>
          <p:cNvPr id="10" name="Picture 9" descr="app_home_phone.jpg"/>
          <p:cNvPicPr>
            <a:picLocks noChangeAspect="1"/>
          </p:cNvPicPr>
          <p:nvPr/>
        </p:nvPicPr>
        <p:blipFill>
          <a:blip r:embed="rId4"/>
          <a:stretch>
            <a:fillRect/>
          </a:stretch>
        </p:blipFill>
        <p:spPr>
          <a:xfrm>
            <a:off x="5989320" y="502920"/>
            <a:ext cx="2779368" cy="58521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Dignity and privacy are not premium features.</a:t>
            </a:r>
          </a:p>
        </p:txBody>
      </p:sp>
      <p:sp>
        <p:nvSpPr>
          <p:cNvPr id="4" name="Rounded Rectangle 3"/>
          <p:cNvSpPr/>
          <p:nvPr/>
        </p:nvSpPr>
        <p:spPr>
          <a:xfrm>
            <a:off x="594360" y="1508760"/>
            <a:ext cx="10972800" cy="1417320"/>
          </a:xfrm>
          <a:prstGeom prst="roundRect">
            <a:avLst>
              <a:gd name="adj" fmla="val 6000"/>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37360"/>
            <a:ext cx="10424160" cy="1051560"/>
          </a:xfrm>
          <a:prstGeom prst="rect">
            <a:avLst/>
          </a:prstGeom>
          <a:noFill/>
        </p:spPr>
        <p:txBody>
          <a:bodyPr wrap="square" anchor="t">
            <a:spAutoFit/>
          </a:bodyPr>
          <a:lstStyle/>
          <a:p>
            <a:pPr algn="l"/>
            <a:r>
              <a:rPr sz="2000" b="1">
                <a:solidFill>
                  <a:srgbClr val="2F5446"/>
                </a:solidFill>
                <a:latin typeface="Fraunces"/>
                <a:ea typeface="Fraunces"/>
                <a:cs typeface="Fraunces"/>
              </a:rPr>
              <a:t>“I built Oppuna around a simple belief: receiving emotional-wellness support should not require an account, constant connectivity or surrendering private thoughts.”</a:t>
            </a:r>
          </a:p>
        </p:txBody>
      </p:sp>
      <p:sp>
        <p:nvSpPr>
          <p:cNvPr id="6" name="TextBox 5"/>
          <p:cNvSpPr txBox="1"/>
          <p:nvPr/>
        </p:nvSpPr>
        <p:spPr>
          <a:xfrm>
            <a:off x="594360" y="3200400"/>
            <a:ext cx="7498079" cy="2377440"/>
          </a:xfrm>
          <a:prstGeom prst="rect">
            <a:avLst/>
          </a:prstGeom>
          <a:noFill/>
        </p:spPr>
        <p:txBody>
          <a:bodyPr wrap="square" anchor="t">
            <a:spAutoFit/>
          </a:bodyPr>
          <a:lstStyle/>
          <a:p>
            <a:pPr algn="l"/>
            <a:r>
              <a:rPr sz="1500" b="0">
                <a:solidFill>
                  <a:srgbClr val="1C2420"/>
                </a:solidFill>
                <a:latin typeface="Outfit"/>
                <a:ea typeface="Outfit"/>
                <a:cs typeface="Outfit"/>
              </a:rPr>
              <a:t>Oppuna is a coined, Koraga-inspired name. The documented Koraga verb root “oppu” means “to be agreeable” or “to be in accord.” The complete word “Oppuna” is not presented as a literal dictionary translation.
The name honours the language and cultural presence of the Koraga indigenous community of coastal Karnataka. The product is dedicated to the spirit of inclusion represented by that heritage—and designed for a broad audience.
Interpretation: meeting a person where they are—with agreement, dignity and without judgement.</a:t>
            </a:r>
          </a:p>
        </p:txBody>
      </p:sp>
      <p:pic>
        <p:nvPicPr>
          <p:cNvPr id="7" name="Picture 6" descr="icon.png"/>
          <p:cNvPicPr>
            <a:picLocks noChangeAspect="1"/>
          </p:cNvPicPr>
          <p:nvPr/>
        </p:nvPicPr>
        <p:blipFill>
          <a:blip r:embed="rId2"/>
          <a:stretch>
            <a:fillRect/>
          </a:stretch>
        </p:blipFill>
        <p:spPr>
          <a:xfrm>
            <a:off x="9418320" y="3383280"/>
            <a:ext cx="1828800" cy="1828800"/>
          </a:xfrm>
          <a:prstGeom prst="rect">
            <a:avLst/>
          </a:prstGeom>
        </p:spPr>
      </p:pic>
      <p:sp>
        <p:nvSpPr>
          <p:cNvPr id="8" name="TextBox 7"/>
          <p:cNvSpPr txBox="1"/>
          <p:nvPr/>
        </p:nvSpPr>
        <p:spPr>
          <a:xfrm>
            <a:off x="9052560" y="5349240"/>
            <a:ext cx="2560320" cy="457200"/>
          </a:xfrm>
          <a:prstGeom prst="rect">
            <a:avLst/>
          </a:prstGeom>
          <a:noFill/>
        </p:spPr>
        <p:txBody>
          <a:bodyPr wrap="square" anchor="t">
            <a:spAutoFit/>
          </a:bodyPr>
          <a:lstStyle/>
          <a:p>
            <a:pPr algn="ctr"/>
            <a:r>
              <a:rPr sz="1300" b="0">
                <a:solidFill>
                  <a:srgbClr val="5A675F"/>
                </a:solidFill>
                <a:latin typeface="Outfit"/>
                <a:ea typeface="Outfit"/>
                <a:cs typeface="Outfit"/>
              </a:rPr>
              <a:t>Living-leaf mark</a:t>
            </a:r>
          </a:p>
        </p:txBody>
      </p:sp>
      <p:sp>
        <p:nvSpPr>
          <p:cNvPr id="9" name="TextBox 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0" name="TextBox 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Sensitive thoughts are still being asked to trust the cloud.</a:t>
            </a:r>
          </a:p>
        </p:txBody>
      </p:sp>
      <p:sp>
        <p:nvSpPr>
          <p:cNvPr id="4" name="Rectangle 3"/>
          <p:cNvSpPr/>
          <p:nvPr/>
        </p:nvSpPr>
        <p:spPr>
          <a:xfrm>
            <a:off x="594360" y="1554480"/>
            <a:ext cx="3520440" cy="23317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554480"/>
            <a:ext cx="3520440" cy="73152"/>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28800"/>
            <a:ext cx="3063240" cy="457200"/>
          </a:xfrm>
          <a:prstGeom prst="rect">
            <a:avLst/>
          </a:prstGeom>
          <a:noFill/>
        </p:spPr>
        <p:txBody>
          <a:bodyPr wrap="square" anchor="t">
            <a:spAutoFit/>
          </a:bodyPr>
          <a:lstStyle/>
          <a:p>
            <a:pPr algn="l"/>
            <a:r>
              <a:rPr sz="2200" b="1">
                <a:solidFill>
                  <a:srgbClr val="2F5446"/>
                </a:solidFill>
                <a:latin typeface="Fraunces"/>
                <a:ea typeface="Fraunces"/>
                <a:cs typeface="Fraunces"/>
              </a:rPr>
              <a:t>1  Privacy</a:t>
            </a:r>
          </a:p>
        </p:txBody>
      </p:sp>
      <p:sp>
        <p:nvSpPr>
          <p:cNvPr id="7" name="TextBox 6"/>
          <p:cNvSpPr txBox="1"/>
          <p:nvPr/>
        </p:nvSpPr>
        <p:spPr>
          <a:xfrm>
            <a:off x="822960" y="2423160"/>
            <a:ext cx="3063240" cy="1188720"/>
          </a:xfrm>
          <a:prstGeom prst="rect">
            <a:avLst/>
          </a:prstGeom>
          <a:noFill/>
        </p:spPr>
        <p:txBody>
          <a:bodyPr wrap="square" anchor="t">
            <a:spAutoFit/>
          </a:bodyPr>
          <a:lstStyle/>
          <a:p>
            <a:pPr algn="l"/>
            <a:r>
              <a:rPr sz="1500" b="0">
                <a:solidFill>
                  <a:srgbClr val="1C2420"/>
                </a:solidFill>
                <a:latin typeface="Outfit"/>
                <a:ea typeface="Outfit"/>
                <a:cs typeface="Outfit"/>
              </a:rPr>
              <a:t>Emotional content may pass through accounts, cloud servers and third-party AI systems.</a:t>
            </a:r>
          </a:p>
        </p:txBody>
      </p:sp>
      <p:sp>
        <p:nvSpPr>
          <p:cNvPr id="8" name="Rectangle 7"/>
          <p:cNvSpPr/>
          <p:nvPr/>
        </p:nvSpPr>
        <p:spPr>
          <a:xfrm>
            <a:off x="4343399" y="1554480"/>
            <a:ext cx="3520440" cy="23317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399" y="1554480"/>
            <a:ext cx="3520440" cy="73152"/>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1999" y="1828800"/>
            <a:ext cx="3063240" cy="457200"/>
          </a:xfrm>
          <a:prstGeom prst="rect">
            <a:avLst/>
          </a:prstGeom>
          <a:noFill/>
        </p:spPr>
        <p:txBody>
          <a:bodyPr wrap="square" anchor="t">
            <a:spAutoFit/>
          </a:bodyPr>
          <a:lstStyle/>
          <a:p>
            <a:pPr algn="l"/>
            <a:r>
              <a:rPr sz="2200" b="1">
                <a:solidFill>
                  <a:srgbClr val="2F5446"/>
                </a:solidFill>
                <a:latin typeface="Fraunces"/>
                <a:ea typeface="Fraunces"/>
                <a:cs typeface="Fraunces"/>
              </a:rPr>
              <a:t>2  Access</a:t>
            </a:r>
          </a:p>
        </p:txBody>
      </p:sp>
      <p:sp>
        <p:nvSpPr>
          <p:cNvPr id="11" name="TextBox 10"/>
          <p:cNvSpPr txBox="1"/>
          <p:nvPr/>
        </p:nvSpPr>
        <p:spPr>
          <a:xfrm>
            <a:off x="4571999" y="2423160"/>
            <a:ext cx="3063240" cy="1188720"/>
          </a:xfrm>
          <a:prstGeom prst="rect">
            <a:avLst/>
          </a:prstGeom>
          <a:noFill/>
        </p:spPr>
        <p:txBody>
          <a:bodyPr wrap="square" anchor="t">
            <a:spAutoFit/>
          </a:bodyPr>
          <a:lstStyle/>
          <a:p>
            <a:pPr algn="l"/>
            <a:r>
              <a:rPr sz="1500" b="0">
                <a:solidFill>
                  <a:srgbClr val="1C2420"/>
                </a:solidFill>
                <a:latin typeface="Outfit"/>
                <a:ea typeface="Outfit"/>
                <a:cs typeface="Outfit"/>
              </a:rPr>
              <a:t>Many products require connectivity, subscriptions or English-first interaction.</a:t>
            </a:r>
          </a:p>
        </p:txBody>
      </p:sp>
      <p:sp>
        <p:nvSpPr>
          <p:cNvPr id="12" name="Rectangle 11"/>
          <p:cNvSpPr/>
          <p:nvPr/>
        </p:nvSpPr>
        <p:spPr>
          <a:xfrm>
            <a:off x="8092439" y="1554480"/>
            <a:ext cx="3520440" cy="23317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39" y="1554480"/>
            <a:ext cx="3520440" cy="73152"/>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39" y="1828800"/>
            <a:ext cx="3063240" cy="457200"/>
          </a:xfrm>
          <a:prstGeom prst="rect">
            <a:avLst/>
          </a:prstGeom>
          <a:noFill/>
        </p:spPr>
        <p:txBody>
          <a:bodyPr wrap="square" anchor="t">
            <a:spAutoFit/>
          </a:bodyPr>
          <a:lstStyle/>
          <a:p>
            <a:pPr algn="l"/>
            <a:r>
              <a:rPr sz="2200" b="1">
                <a:solidFill>
                  <a:srgbClr val="2F5446"/>
                </a:solidFill>
                <a:latin typeface="Fraunces"/>
                <a:ea typeface="Fraunces"/>
                <a:cs typeface="Fraunces"/>
              </a:rPr>
              <a:t>3  Trust</a:t>
            </a:r>
          </a:p>
        </p:txBody>
      </p:sp>
      <p:sp>
        <p:nvSpPr>
          <p:cNvPr id="15" name="TextBox 14"/>
          <p:cNvSpPr txBox="1"/>
          <p:nvPr/>
        </p:nvSpPr>
        <p:spPr>
          <a:xfrm>
            <a:off x="8321039" y="2423160"/>
            <a:ext cx="3063240" cy="1188720"/>
          </a:xfrm>
          <a:prstGeom prst="rect">
            <a:avLst/>
          </a:prstGeom>
          <a:noFill/>
        </p:spPr>
        <p:txBody>
          <a:bodyPr wrap="square" anchor="t">
            <a:spAutoFit/>
          </a:bodyPr>
          <a:lstStyle/>
          <a:p>
            <a:pPr algn="l"/>
            <a:r>
              <a:rPr sz="1500" b="0">
                <a:solidFill>
                  <a:srgbClr val="1C2420"/>
                </a:solidFill>
                <a:latin typeface="Outfit"/>
                <a:ea typeface="Outfit"/>
                <a:cs typeface="Outfit"/>
              </a:rPr>
              <a:t>People may hesitate to open up when they cannot control where their information goes.</a:t>
            </a:r>
          </a:p>
        </p:txBody>
      </p:sp>
      <p:sp>
        <p:nvSpPr>
          <p:cNvPr id="16" name="TextBox 15"/>
          <p:cNvSpPr txBox="1"/>
          <p:nvPr/>
        </p:nvSpPr>
        <p:spPr>
          <a:xfrm>
            <a:off x="594360" y="4160520"/>
            <a:ext cx="10972800" cy="1828800"/>
          </a:xfrm>
          <a:prstGeom prst="rect">
            <a:avLst/>
          </a:prstGeom>
          <a:noFill/>
        </p:spPr>
        <p:txBody>
          <a:bodyPr wrap="square" anchor="t">
            <a:spAutoFit/>
          </a:bodyPr>
          <a:lstStyle/>
          <a:p>
            <a:pPr algn="l"/>
            <a:r>
              <a:rPr sz="1400" b="0">
                <a:solidFill>
                  <a:srgbClr val="5A675F"/>
                </a:solidFill>
                <a:latin typeface="Outfit"/>
                <a:ea typeface="Outfit"/>
                <a:cs typeface="Outfit"/>
              </a:rPr>
              <a:t>India context (need ≠ Oppuna customers):
• NMHS 2015–16: about 10.6% of Indian adults had a current mental disorder; treatment gaps commonly reported near 70–92%.
• IAMAI–Kantar 2025: 958 million active internet users in India.
• Statcounter (India mobile OS, Mar 2025 snapshot): Android about 94.8% of mobile OS traffic share.
Oppuna’s wedge is general CBT-informed emotional wellness and self-reflection—not clinical treatment populations.</a:t>
            </a:r>
          </a:p>
        </p:txBody>
      </p:sp>
      <p:sp>
        <p:nvSpPr>
          <p:cNvPr id="17" name="TextBox 16"/>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8" name="TextBox 17"/>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Private, structured wellness support can now run on the phone.</a:t>
            </a:r>
          </a:p>
        </p:txBody>
      </p:sp>
      <p:sp>
        <p:nvSpPr>
          <p:cNvPr id="4" name="TextBox 3"/>
          <p:cNvSpPr txBox="1"/>
          <p:nvPr/>
        </p:nvSpPr>
        <p:spPr>
          <a:xfrm>
            <a:off x="594360" y="1417320"/>
            <a:ext cx="6583680" cy="320040"/>
          </a:xfrm>
          <a:prstGeom prst="rect">
            <a:avLst/>
          </a:prstGeom>
          <a:noFill/>
        </p:spPr>
        <p:txBody>
          <a:bodyPr wrap="square" anchor="t">
            <a:spAutoFit/>
          </a:bodyPr>
          <a:lstStyle/>
          <a:p>
            <a:pPr algn="l"/>
            <a:r>
              <a:rPr sz="1400" b="1">
                <a:solidFill>
                  <a:srgbClr val="3D6B5A"/>
                </a:solidFill>
                <a:latin typeface="Outfit"/>
                <a:ea typeface="Outfit"/>
                <a:cs typeface="Outfit"/>
              </a:rPr>
              <a:t>What Oppuna delivers</a:t>
            </a:r>
          </a:p>
        </p:txBody>
      </p:sp>
      <p:sp>
        <p:nvSpPr>
          <p:cNvPr id="5" name="TextBox 4"/>
          <p:cNvSpPr txBox="1"/>
          <p:nvPr/>
        </p:nvSpPr>
        <p:spPr>
          <a:xfrm>
            <a:off x="594360" y="1783080"/>
            <a:ext cx="6583680" cy="3291840"/>
          </a:xfrm>
          <a:prstGeom prst="rect">
            <a:avLst/>
          </a:prstGeom>
          <a:noFill/>
        </p:spPr>
        <p:txBody>
          <a:bodyPr wrap="square">
            <a:spAutoFit/>
          </a:bodyPr>
          <a:lstStyle/>
          <a:p>
            <a:pPr>
              <a:spcAft>
                <a:spcPts val="900"/>
              </a:spcAft>
            </a:pPr>
            <a:r>
              <a:rPr sz="1600" b="0">
                <a:solidFill>
                  <a:srgbClr val="1C2420"/>
                </a:solidFill>
                <a:latin typeface="Outfit"/>
                <a:ea typeface="Outfit"/>
                <a:cs typeface="Outfit"/>
              </a:rPr>
              <a:t>•  No account required</a:t>
            </a:r>
          </a:p>
          <a:p>
            <a:pPr>
              <a:spcAft>
                <a:spcPts val="900"/>
              </a:spcAft>
            </a:pPr>
            <a:r>
              <a:rPr sz="1600" b="0">
                <a:solidFill>
                  <a:srgbClr val="1C2420"/>
                </a:solidFill>
                <a:latin typeface="Outfit"/>
                <a:ea typeface="Outfit"/>
                <a:cs typeface="Outfit"/>
              </a:rPr>
              <a:t>•  Emotional content remains local</a:t>
            </a:r>
          </a:p>
          <a:p>
            <a:pPr>
              <a:spcAft>
                <a:spcPts val="900"/>
              </a:spcAft>
            </a:pPr>
            <a:r>
              <a:rPr sz="1600" b="0">
                <a:solidFill>
                  <a:srgbClr val="1C2420"/>
                </a:solidFill>
                <a:latin typeface="Outfit"/>
                <a:ea typeface="Outfit"/>
                <a:cs typeface="Outfit"/>
              </a:rPr>
              <a:t>•  On-device intelligence</a:t>
            </a:r>
          </a:p>
          <a:p>
            <a:pPr>
              <a:spcAft>
                <a:spcPts val="900"/>
              </a:spcAft>
            </a:pPr>
            <a:r>
              <a:rPr sz="1600" b="0">
                <a:solidFill>
                  <a:srgbClr val="1C2420"/>
                </a:solidFill>
                <a:latin typeface="Outfit"/>
                <a:ea typeface="Outfit"/>
                <a:cs typeface="Outfit"/>
              </a:rPr>
              <a:t>•  Offline and airplane-mode operation</a:t>
            </a:r>
          </a:p>
          <a:p>
            <a:pPr>
              <a:spcAft>
                <a:spcPts val="900"/>
              </a:spcAft>
            </a:pPr>
            <a:r>
              <a:rPr sz="1600" b="0">
                <a:solidFill>
                  <a:srgbClr val="1C2420"/>
                </a:solidFill>
                <a:latin typeface="Outfit"/>
                <a:ea typeface="Outfit"/>
                <a:cs typeface="Outfit"/>
              </a:rPr>
              <a:t>•  Voice and multilingual accessibility</a:t>
            </a:r>
          </a:p>
          <a:p>
            <a:pPr>
              <a:spcAft>
                <a:spcPts val="900"/>
              </a:spcAft>
            </a:pPr>
            <a:r>
              <a:rPr sz="1600" b="0">
                <a:solidFill>
                  <a:srgbClr val="1C2420"/>
                </a:solidFill>
                <a:latin typeface="Outfit"/>
                <a:ea typeface="Outfit"/>
                <a:cs typeface="Outfit"/>
              </a:rPr>
              <a:t>•  No advertising in vulnerable moments</a:t>
            </a:r>
          </a:p>
          <a:p>
            <a:pPr>
              <a:spcAft>
                <a:spcPts val="900"/>
              </a:spcAft>
            </a:pPr>
            <a:r>
              <a:rPr sz="1600" b="0">
                <a:solidFill>
                  <a:srgbClr val="1C2420"/>
                </a:solidFill>
                <a:latin typeface="Outfit"/>
                <a:ea typeface="Outfit"/>
                <a:cs typeface="Outfit"/>
              </a:rPr>
              <a:t>•  Local export and delete controls</a:t>
            </a:r>
          </a:p>
        </p:txBody>
      </p:sp>
      <p:sp>
        <p:nvSpPr>
          <p:cNvPr id="6" name="Rectangle 5"/>
          <p:cNvSpPr/>
          <p:nvPr/>
        </p:nvSpPr>
        <p:spPr>
          <a:xfrm>
            <a:off x="7589520" y="1417320"/>
            <a:ext cx="3977639" cy="429768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645920"/>
            <a:ext cx="3566160" cy="365760"/>
          </a:xfrm>
          <a:prstGeom prst="rect">
            <a:avLst/>
          </a:prstGeom>
          <a:noFill/>
        </p:spPr>
        <p:txBody>
          <a:bodyPr wrap="square" anchor="t">
            <a:spAutoFit/>
          </a:bodyPr>
          <a:lstStyle/>
          <a:p>
            <a:pPr algn="l"/>
            <a:r>
              <a:rPr sz="2200" b="1">
                <a:solidFill>
                  <a:srgbClr val="FFFFFF"/>
                </a:solidFill>
                <a:latin typeface="Fraunces"/>
                <a:ea typeface="Fraunces"/>
                <a:cs typeface="Fraunces"/>
              </a:rPr>
              <a:t>Why now</a:t>
            </a:r>
          </a:p>
        </p:txBody>
      </p:sp>
      <p:sp>
        <p:nvSpPr>
          <p:cNvPr id="8" name="TextBox 7"/>
          <p:cNvSpPr txBox="1"/>
          <p:nvPr/>
        </p:nvSpPr>
        <p:spPr>
          <a:xfrm>
            <a:off x="7818120" y="2194560"/>
            <a:ext cx="3566160" cy="3200400"/>
          </a:xfrm>
          <a:prstGeom prst="rect">
            <a:avLst/>
          </a:prstGeom>
          <a:noFill/>
        </p:spPr>
        <p:txBody>
          <a:bodyPr wrap="square">
            <a:spAutoFit/>
          </a:bodyPr>
          <a:lstStyle/>
          <a:p>
            <a:pPr>
              <a:spcAft>
                <a:spcPts val="1200"/>
              </a:spcAft>
            </a:pPr>
            <a:r>
              <a:rPr sz="1400" b="0">
                <a:solidFill>
                  <a:srgbClr val="DCE8E2"/>
                </a:solidFill>
                <a:latin typeface="Outfit"/>
                <a:ea typeface="Outfit"/>
                <a:cs typeface="Outfit"/>
              </a:rPr>
              <a:t>•  On-device AI capability is improving on mainstream Android devices</a:t>
            </a:r>
          </a:p>
          <a:p>
            <a:pPr>
              <a:spcAft>
                <a:spcPts val="1200"/>
              </a:spcAft>
            </a:pPr>
            <a:r>
              <a:rPr sz="1400" b="0">
                <a:solidFill>
                  <a:srgbClr val="DCE8E2"/>
                </a:solidFill>
                <a:latin typeface="Outfit"/>
                <a:ea typeface="Outfit"/>
                <a:cs typeface="Outfit"/>
              </a:rPr>
              <a:t>•  Android has large reach across India</a:t>
            </a:r>
          </a:p>
          <a:p>
            <a:pPr>
              <a:spcAft>
                <a:spcPts val="1200"/>
              </a:spcAft>
            </a:pPr>
            <a:r>
              <a:rPr sz="1400" b="0">
                <a:solidFill>
                  <a:srgbClr val="DCE8E2"/>
                </a:solidFill>
                <a:latin typeface="Outfit"/>
                <a:ea typeface="Outfit"/>
                <a:cs typeface="Outfit"/>
              </a:rPr>
              <a:t>•  AI-assisted self-help is becoming familiar</a:t>
            </a:r>
          </a:p>
          <a:p>
            <a:pPr>
              <a:spcAft>
                <a:spcPts val="1200"/>
              </a:spcAft>
            </a:pPr>
            <a:r>
              <a:rPr sz="1400" b="0">
                <a:solidFill>
                  <a:srgbClr val="DCE8E2"/>
                </a:solidFill>
                <a:latin typeface="Outfit"/>
                <a:ea typeface="Outfit"/>
                <a:cs typeface="Outfit"/>
              </a:rPr>
              <a:t>•  Privacy concerns create a differentiated opening for local-first design</a:t>
            </a:r>
          </a:p>
        </p:txBody>
      </p:sp>
      <p:sp>
        <p:nvSpPr>
          <p:cNvPr id="9" name="TextBox 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0" name="TextBox 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CBT turns overwhelming thoughts into manageable actions.</a:t>
            </a:r>
          </a:p>
        </p:txBody>
      </p:sp>
      <p:sp>
        <p:nvSpPr>
          <p:cNvPr id="4" name="Rectangle 3"/>
          <p:cNvSpPr/>
          <p:nvPr/>
        </p:nvSpPr>
        <p:spPr>
          <a:xfrm>
            <a:off x="594360"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1</a:t>
            </a:r>
          </a:p>
        </p:txBody>
      </p:sp>
      <p:sp>
        <p:nvSpPr>
          <p:cNvPr id="6" name="TextBox 5"/>
          <p:cNvSpPr txBox="1"/>
          <p:nvPr/>
        </p:nvSpPr>
        <p:spPr>
          <a:xfrm>
            <a:off x="667512"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Recognise
the emotion</a:t>
            </a:r>
          </a:p>
        </p:txBody>
      </p:sp>
      <p:sp>
        <p:nvSpPr>
          <p:cNvPr id="7" name="Rectangle 6"/>
          <p:cNvSpPr/>
          <p:nvPr/>
        </p:nvSpPr>
        <p:spPr>
          <a:xfrm>
            <a:off x="246887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1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2</a:t>
            </a:r>
          </a:p>
        </p:txBody>
      </p:sp>
      <p:sp>
        <p:nvSpPr>
          <p:cNvPr id="9" name="TextBox 8"/>
          <p:cNvSpPr txBox="1"/>
          <p:nvPr/>
        </p:nvSpPr>
        <p:spPr>
          <a:xfrm>
            <a:off x="254203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Capture the
automatic thought</a:t>
            </a:r>
          </a:p>
        </p:txBody>
      </p:sp>
      <p:sp>
        <p:nvSpPr>
          <p:cNvPr id="10" name="Rectangle 9"/>
          <p:cNvSpPr/>
          <p:nvPr/>
        </p:nvSpPr>
        <p:spPr>
          <a:xfrm>
            <a:off x="434339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3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3</a:t>
            </a:r>
          </a:p>
        </p:txBody>
      </p:sp>
      <p:sp>
        <p:nvSpPr>
          <p:cNvPr id="12" name="TextBox 11"/>
          <p:cNvSpPr txBox="1"/>
          <p:nvPr/>
        </p:nvSpPr>
        <p:spPr>
          <a:xfrm>
            <a:off x="441655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Examine
the evidence</a:t>
            </a:r>
          </a:p>
        </p:txBody>
      </p:sp>
      <p:sp>
        <p:nvSpPr>
          <p:cNvPr id="13" name="Rectangle 12"/>
          <p:cNvSpPr/>
          <p:nvPr/>
        </p:nvSpPr>
        <p:spPr>
          <a:xfrm>
            <a:off x="621791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5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4</a:t>
            </a:r>
          </a:p>
        </p:txBody>
      </p:sp>
      <p:sp>
        <p:nvSpPr>
          <p:cNvPr id="15" name="TextBox 14"/>
          <p:cNvSpPr txBox="1"/>
          <p:nvPr/>
        </p:nvSpPr>
        <p:spPr>
          <a:xfrm>
            <a:off x="629107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Build a
balanced reframe</a:t>
            </a:r>
          </a:p>
        </p:txBody>
      </p:sp>
      <p:sp>
        <p:nvSpPr>
          <p:cNvPr id="16" name="Rectangle 15"/>
          <p:cNvSpPr/>
          <p:nvPr/>
        </p:nvSpPr>
        <p:spPr>
          <a:xfrm>
            <a:off x="809243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5</a:t>
            </a:r>
          </a:p>
        </p:txBody>
      </p:sp>
      <p:sp>
        <p:nvSpPr>
          <p:cNvPr id="18" name="TextBox 17"/>
          <p:cNvSpPr txBox="1"/>
          <p:nvPr/>
        </p:nvSpPr>
        <p:spPr>
          <a:xfrm>
            <a:off x="816559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Choose one
manageable action</a:t>
            </a:r>
          </a:p>
        </p:txBody>
      </p:sp>
      <p:sp>
        <p:nvSpPr>
          <p:cNvPr id="19" name="Rectangle 18"/>
          <p:cNvSpPr/>
          <p:nvPr/>
        </p:nvSpPr>
        <p:spPr>
          <a:xfrm>
            <a:off x="9966960"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0"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6</a:t>
            </a:r>
          </a:p>
        </p:txBody>
      </p:sp>
      <p:sp>
        <p:nvSpPr>
          <p:cNvPr id="21" name="TextBox 20"/>
          <p:cNvSpPr txBox="1"/>
          <p:nvPr/>
        </p:nvSpPr>
        <p:spPr>
          <a:xfrm>
            <a:off x="10040112"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Reflect and
observe patterns</a:t>
            </a:r>
          </a:p>
        </p:txBody>
      </p:sp>
      <p:sp>
        <p:nvSpPr>
          <p:cNvPr id="22" name="TextBox 21"/>
          <p:cNvSpPr txBox="1"/>
          <p:nvPr/>
        </p:nvSpPr>
        <p:spPr>
          <a:xfrm>
            <a:off x="594360" y="3291840"/>
            <a:ext cx="10972800" cy="320040"/>
          </a:xfrm>
          <a:prstGeom prst="rect">
            <a:avLst/>
          </a:prstGeom>
          <a:noFill/>
        </p:spPr>
        <p:txBody>
          <a:bodyPr wrap="square" anchor="t">
            <a:spAutoFit/>
          </a:bodyPr>
          <a:lstStyle/>
          <a:p>
            <a:pPr algn="l"/>
            <a:r>
              <a:rPr sz="1400" b="1">
                <a:solidFill>
                  <a:srgbClr val="3D6B5A"/>
                </a:solidFill>
                <a:latin typeface="Outfit"/>
                <a:ea typeface="Outfit"/>
                <a:cs typeface="Outfit"/>
              </a:rPr>
              <a:t>Connected Oppuna practices</a:t>
            </a:r>
          </a:p>
        </p:txBody>
      </p:sp>
      <p:sp>
        <p:nvSpPr>
          <p:cNvPr id="23" name="Rectangle 22"/>
          <p:cNvSpPr/>
          <p:nvPr/>
        </p:nvSpPr>
        <p:spPr>
          <a:xfrm>
            <a:off x="59436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Mood check-ins</a:t>
            </a:r>
          </a:p>
        </p:txBody>
      </p:sp>
      <p:sp>
        <p:nvSpPr>
          <p:cNvPr id="25" name="Rectangle 24"/>
          <p:cNvSpPr/>
          <p:nvPr/>
        </p:nvSpPr>
        <p:spPr>
          <a:xfrm>
            <a:off x="342900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3872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Guided thought records</a:t>
            </a:r>
          </a:p>
        </p:txBody>
      </p:sp>
      <p:sp>
        <p:nvSpPr>
          <p:cNvPr id="27" name="Rectangle 26"/>
          <p:cNvSpPr/>
          <p:nvPr/>
        </p:nvSpPr>
        <p:spPr>
          <a:xfrm>
            <a:off x="626364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336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Thought-reframing exercises</a:t>
            </a:r>
          </a:p>
        </p:txBody>
      </p:sp>
      <p:sp>
        <p:nvSpPr>
          <p:cNvPr id="29" name="Rectangle 28"/>
          <p:cNvSpPr/>
          <p:nvPr/>
        </p:nvSpPr>
        <p:spPr>
          <a:xfrm>
            <a:off x="909828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0800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Guided journaling</a:t>
            </a:r>
          </a:p>
        </p:txBody>
      </p:sp>
      <p:sp>
        <p:nvSpPr>
          <p:cNvPr id="31" name="Rectangle 30"/>
          <p:cNvSpPr/>
          <p:nvPr/>
        </p:nvSpPr>
        <p:spPr>
          <a:xfrm>
            <a:off x="59436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Behavioural / wellness goals</a:t>
            </a:r>
          </a:p>
        </p:txBody>
      </p:sp>
      <p:sp>
        <p:nvSpPr>
          <p:cNvPr id="33" name="Rectangle 32"/>
          <p:cNvSpPr/>
          <p:nvPr/>
        </p:nvSpPr>
        <p:spPr>
          <a:xfrm>
            <a:off x="342900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Grounding and breathing</a:t>
            </a:r>
          </a:p>
        </p:txBody>
      </p:sp>
      <p:sp>
        <p:nvSpPr>
          <p:cNvPr id="35" name="Rectangle 34"/>
          <p:cNvSpPr/>
          <p:nvPr/>
        </p:nvSpPr>
        <p:spPr>
          <a:xfrm>
            <a:off x="626364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7336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Daily plan</a:t>
            </a:r>
          </a:p>
        </p:txBody>
      </p:sp>
      <p:sp>
        <p:nvSpPr>
          <p:cNvPr id="37" name="Rectangle 36"/>
          <p:cNvSpPr/>
          <p:nvPr/>
        </p:nvSpPr>
        <p:spPr>
          <a:xfrm>
            <a:off x="909828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Progress summaries</a:t>
            </a:r>
          </a:p>
        </p:txBody>
      </p:sp>
      <p:sp>
        <p:nvSpPr>
          <p:cNvPr id="39" name="TextBox 38"/>
          <p:cNvSpPr txBox="1"/>
          <p:nvPr/>
        </p:nvSpPr>
        <p:spPr>
          <a:xfrm>
            <a:off x="594360" y="5212080"/>
            <a:ext cx="10972800" cy="640080"/>
          </a:xfrm>
          <a:prstGeom prst="rect">
            <a:avLst/>
          </a:prstGeom>
          <a:noFill/>
        </p:spPr>
        <p:txBody>
          <a:bodyPr wrap="square" anchor="t">
            <a:spAutoFit/>
          </a:bodyPr>
          <a:lstStyle/>
          <a:p>
            <a:pPr algn="l"/>
            <a:r>
              <a:rPr sz="1400" b="0">
                <a:solidFill>
                  <a:srgbClr val="5A675F"/>
                </a:solidFill>
                <a:latin typeface="Outfit"/>
                <a:ea typeface="Outfit"/>
                <a:cs typeface="Outfit"/>
              </a:rPr>
              <a:t>CBT-informed self-help for everyday wellness—not therapy or diagnosis.
Oppuna helps people recognise thoughts and emotions, examine patterns, reframe unhelpful thinking, practise grounding and breathing, choose manageable actions and observe progress—privately on Android.</a:t>
            </a:r>
          </a:p>
        </p:txBody>
      </p:sp>
      <p:sp>
        <p:nvSpPr>
          <p:cNvPr id="40" name="TextBox 39"/>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41" name="TextBox 40"/>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One private space for the practices that build consistency.</a:t>
            </a:r>
          </a:p>
        </p:txBody>
      </p:sp>
      <p:sp>
        <p:nvSpPr>
          <p:cNvPr id="4" name="TextBox 3"/>
          <p:cNvSpPr txBox="1"/>
          <p:nvPr/>
        </p:nvSpPr>
        <p:spPr>
          <a:xfrm>
            <a:off x="594360" y="1353312"/>
            <a:ext cx="2148840" cy="365760"/>
          </a:xfrm>
          <a:prstGeom prst="rect">
            <a:avLst/>
          </a:prstGeom>
          <a:noFill/>
        </p:spPr>
        <p:txBody>
          <a:bodyPr wrap="square" anchor="t">
            <a:spAutoFit/>
          </a:bodyPr>
          <a:lstStyle/>
          <a:p>
            <a:pPr algn="ctr"/>
            <a:r>
              <a:rPr sz="1300" b="1">
                <a:solidFill>
                  <a:srgbClr val="2F5446"/>
                </a:solidFill>
                <a:latin typeface="Outfit"/>
                <a:ea typeface="Outfit"/>
                <a:cs typeface="Outfit"/>
              </a:rPr>
              <a:t>1. Check in</a:t>
            </a:r>
          </a:p>
        </p:txBody>
      </p:sp>
      <p:pic>
        <p:nvPicPr>
          <p:cNvPr id="5" name="Picture 4" descr="app_mood_phone.jpg"/>
          <p:cNvPicPr>
            <a:picLocks noChangeAspect="1"/>
          </p:cNvPicPr>
          <p:nvPr/>
        </p:nvPicPr>
        <p:blipFill>
          <a:blip r:embed="rId2"/>
          <a:stretch>
            <a:fillRect/>
          </a:stretch>
        </p:blipFill>
        <p:spPr>
          <a:xfrm>
            <a:off x="777240" y="1783080"/>
            <a:ext cx="1889102" cy="3977639"/>
          </a:xfrm>
          <a:prstGeom prst="rect">
            <a:avLst/>
          </a:prstGeom>
        </p:spPr>
      </p:pic>
      <p:sp>
        <p:nvSpPr>
          <p:cNvPr id="6" name="TextBox 5"/>
          <p:cNvSpPr txBox="1"/>
          <p:nvPr/>
        </p:nvSpPr>
        <p:spPr>
          <a:xfrm>
            <a:off x="594360" y="5852160"/>
            <a:ext cx="2148840" cy="320040"/>
          </a:xfrm>
          <a:prstGeom prst="rect">
            <a:avLst/>
          </a:prstGeom>
          <a:noFill/>
        </p:spPr>
        <p:txBody>
          <a:bodyPr wrap="square" anchor="t">
            <a:spAutoFit/>
          </a:bodyPr>
          <a:lstStyle/>
          <a:p>
            <a:pPr algn="ctr"/>
            <a:r>
              <a:rPr sz="1200" b="0">
                <a:solidFill>
                  <a:srgbClr val="5A675F"/>
                </a:solidFill>
                <a:latin typeface="Outfit"/>
                <a:ea typeface="Outfit"/>
                <a:cs typeface="Outfit"/>
              </a:rPr>
              <a:t>Mood on this device</a:t>
            </a:r>
          </a:p>
        </p:txBody>
      </p:sp>
      <p:sp>
        <p:nvSpPr>
          <p:cNvPr id="7" name="TextBox 6"/>
          <p:cNvSpPr txBox="1"/>
          <p:nvPr/>
        </p:nvSpPr>
        <p:spPr>
          <a:xfrm>
            <a:off x="2862072" y="1353312"/>
            <a:ext cx="2148840" cy="365760"/>
          </a:xfrm>
          <a:prstGeom prst="rect">
            <a:avLst/>
          </a:prstGeom>
          <a:noFill/>
        </p:spPr>
        <p:txBody>
          <a:bodyPr wrap="square" anchor="t">
            <a:spAutoFit/>
          </a:bodyPr>
          <a:lstStyle/>
          <a:p>
            <a:pPr algn="ctr"/>
            <a:r>
              <a:rPr sz="1300" b="1">
                <a:solidFill>
                  <a:srgbClr val="2F5446"/>
                </a:solidFill>
                <a:latin typeface="Outfit"/>
                <a:ea typeface="Outfit"/>
                <a:cs typeface="Outfit"/>
              </a:rPr>
              <a:t>2. Daily plan</a:t>
            </a:r>
          </a:p>
        </p:txBody>
      </p:sp>
      <p:pic>
        <p:nvPicPr>
          <p:cNvPr id="8" name="Picture 7" descr="app_plan_phone.jpg"/>
          <p:cNvPicPr>
            <a:picLocks noChangeAspect="1"/>
          </p:cNvPicPr>
          <p:nvPr/>
        </p:nvPicPr>
        <p:blipFill>
          <a:blip r:embed="rId3"/>
          <a:stretch>
            <a:fillRect/>
          </a:stretch>
        </p:blipFill>
        <p:spPr>
          <a:xfrm>
            <a:off x="3044952" y="1783080"/>
            <a:ext cx="1889102" cy="3977639"/>
          </a:xfrm>
          <a:prstGeom prst="rect">
            <a:avLst/>
          </a:prstGeom>
        </p:spPr>
      </p:pic>
      <p:sp>
        <p:nvSpPr>
          <p:cNvPr id="9" name="TextBox 8"/>
          <p:cNvSpPr txBox="1"/>
          <p:nvPr/>
        </p:nvSpPr>
        <p:spPr>
          <a:xfrm>
            <a:off x="2862072" y="5852160"/>
            <a:ext cx="2148840" cy="320040"/>
          </a:xfrm>
          <a:prstGeom prst="rect">
            <a:avLst/>
          </a:prstGeom>
          <a:noFill/>
        </p:spPr>
        <p:txBody>
          <a:bodyPr wrap="square" anchor="t">
            <a:spAutoFit/>
          </a:bodyPr>
          <a:lstStyle/>
          <a:p>
            <a:pPr algn="ctr"/>
            <a:r>
              <a:rPr sz="1200" b="0">
                <a:solidFill>
                  <a:srgbClr val="5A675F"/>
                </a:solidFill>
                <a:latin typeface="Outfit"/>
                <a:ea typeface="Outfit"/>
                <a:cs typeface="Outfit"/>
              </a:rPr>
              <a:t>Small structured steps</a:t>
            </a:r>
          </a:p>
        </p:txBody>
      </p:sp>
      <p:sp>
        <p:nvSpPr>
          <p:cNvPr id="10" name="TextBox 9"/>
          <p:cNvSpPr txBox="1"/>
          <p:nvPr/>
        </p:nvSpPr>
        <p:spPr>
          <a:xfrm>
            <a:off x="5129784" y="1353312"/>
            <a:ext cx="2148840" cy="365760"/>
          </a:xfrm>
          <a:prstGeom prst="rect">
            <a:avLst/>
          </a:prstGeom>
          <a:noFill/>
        </p:spPr>
        <p:txBody>
          <a:bodyPr wrap="square" anchor="t">
            <a:spAutoFit/>
          </a:bodyPr>
          <a:lstStyle/>
          <a:p>
            <a:pPr algn="ctr"/>
            <a:r>
              <a:rPr sz="1300" b="1">
                <a:solidFill>
                  <a:srgbClr val="2F5446"/>
                </a:solidFill>
                <a:latin typeface="Outfit"/>
                <a:ea typeface="Outfit"/>
                <a:cs typeface="Outfit"/>
              </a:rPr>
              <a:t>3. Journal</a:t>
            </a:r>
          </a:p>
        </p:txBody>
      </p:sp>
      <p:pic>
        <p:nvPicPr>
          <p:cNvPr id="11" name="Picture 10" descr="app_journal_editor_phone.jpg"/>
          <p:cNvPicPr>
            <a:picLocks noChangeAspect="1"/>
          </p:cNvPicPr>
          <p:nvPr/>
        </p:nvPicPr>
        <p:blipFill>
          <a:blip r:embed="rId4"/>
          <a:stretch>
            <a:fillRect/>
          </a:stretch>
        </p:blipFill>
        <p:spPr>
          <a:xfrm>
            <a:off x="5312664" y="1783080"/>
            <a:ext cx="1889102" cy="3977639"/>
          </a:xfrm>
          <a:prstGeom prst="rect">
            <a:avLst/>
          </a:prstGeom>
        </p:spPr>
      </p:pic>
      <p:sp>
        <p:nvSpPr>
          <p:cNvPr id="12" name="TextBox 11"/>
          <p:cNvSpPr txBox="1"/>
          <p:nvPr/>
        </p:nvSpPr>
        <p:spPr>
          <a:xfrm>
            <a:off x="5129784" y="5852160"/>
            <a:ext cx="2148840" cy="320040"/>
          </a:xfrm>
          <a:prstGeom prst="rect">
            <a:avLst/>
          </a:prstGeom>
          <a:noFill/>
        </p:spPr>
        <p:txBody>
          <a:bodyPr wrap="square" anchor="t">
            <a:spAutoFit/>
          </a:bodyPr>
          <a:lstStyle/>
          <a:p>
            <a:pPr algn="ctr"/>
            <a:r>
              <a:rPr sz="1200" b="0">
                <a:solidFill>
                  <a:srgbClr val="5A675F"/>
                </a:solidFill>
                <a:latin typeface="Outfit"/>
                <a:ea typeface="Outfit"/>
                <a:cs typeface="Outfit"/>
              </a:rPr>
              <a:t>Thoughts stay local</a:t>
            </a:r>
          </a:p>
        </p:txBody>
      </p:sp>
      <p:sp>
        <p:nvSpPr>
          <p:cNvPr id="13" name="TextBox 12"/>
          <p:cNvSpPr txBox="1"/>
          <p:nvPr/>
        </p:nvSpPr>
        <p:spPr>
          <a:xfrm>
            <a:off x="7397496" y="1353312"/>
            <a:ext cx="2148840" cy="365760"/>
          </a:xfrm>
          <a:prstGeom prst="rect">
            <a:avLst/>
          </a:prstGeom>
          <a:noFill/>
        </p:spPr>
        <p:txBody>
          <a:bodyPr wrap="square" anchor="t">
            <a:spAutoFit/>
          </a:bodyPr>
          <a:lstStyle/>
          <a:p>
            <a:pPr algn="ctr"/>
            <a:r>
              <a:rPr sz="1300" b="1">
                <a:solidFill>
                  <a:srgbClr val="2F5446"/>
                </a:solidFill>
                <a:latin typeface="Outfit"/>
                <a:ea typeface="Outfit"/>
                <a:cs typeface="Outfit"/>
              </a:rPr>
              <a:t>4. Talk</a:t>
            </a:r>
          </a:p>
        </p:txBody>
      </p:sp>
      <p:pic>
        <p:nvPicPr>
          <p:cNvPr id="14" name="Picture 13" descr="app_chat_phone.jpg"/>
          <p:cNvPicPr>
            <a:picLocks noChangeAspect="1"/>
          </p:cNvPicPr>
          <p:nvPr/>
        </p:nvPicPr>
        <p:blipFill>
          <a:blip r:embed="rId5"/>
          <a:stretch>
            <a:fillRect/>
          </a:stretch>
        </p:blipFill>
        <p:spPr>
          <a:xfrm>
            <a:off x="7580376" y="1783080"/>
            <a:ext cx="1889102" cy="3977639"/>
          </a:xfrm>
          <a:prstGeom prst="rect">
            <a:avLst/>
          </a:prstGeom>
        </p:spPr>
      </p:pic>
      <p:sp>
        <p:nvSpPr>
          <p:cNvPr id="15" name="TextBox 14"/>
          <p:cNvSpPr txBox="1"/>
          <p:nvPr/>
        </p:nvSpPr>
        <p:spPr>
          <a:xfrm>
            <a:off x="7397496" y="5852160"/>
            <a:ext cx="2148840" cy="320040"/>
          </a:xfrm>
          <a:prstGeom prst="rect">
            <a:avLst/>
          </a:prstGeom>
          <a:noFill/>
        </p:spPr>
        <p:txBody>
          <a:bodyPr wrap="square" anchor="t">
            <a:spAutoFit/>
          </a:bodyPr>
          <a:lstStyle/>
          <a:p>
            <a:pPr algn="ctr"/>
            <a:r>
              <a:rPr sz="1200" b="0">
                <a:solidFill>
                  <a:srgbClr val="5A675F"/>
                </a:solidFill>
                <a:latin typeface="Outfit"/>
                <a:ea typeface="Outfit"/>
                <a:cs typeface="Outfit"/>
              </a:rPr>
              <a:t>On-device companion</a:t>
            </a:r>
          </a:p>
        </p:txBody>
      </p:sp>
      <p:sp>
        <p:nvSpPr>
          <p:cNvPr id="16" name="TextBox 15"/>
          <p:cNvSpPr txBox="1"/>
          <p:nvPr/>
        </p:nvSpPr>
        <p:spPr>
          <a:xfrm>
            <a:off x="9665208" y="1353312"/>
            <a:ext cx="2148840" cy="365760"/>
          </a:xfrm>
          <a:prstGeom prst="rect">
            <a:avLst/>
          </a:prstGeom>
          <a:noFill/>
        </p:spPr>
        <p:txBody>
          <a:bodyPr wrap="square" anchor="t">
            <a:spAutoFit/>
          </a:bodyPr>
          <a:lstStyle/>
          <a:p>
            <a:pPr algn="ctr"/>
            <a:r>
              <a:rPr sz="1300" b="1">
                <a:solidFill>
                  <a:srgbClr val="2F5446"/>
                </a:solidFill>
                <a:latin typeface="Outfit"/>
                <a:ea typeface="Outfit"/>
                <a:cs typeface="Outfit"/>
              </a:rPr>
              <a:t>5. Return home</a:t>
            </a:r>
          </a:p>
        </p:txBody>
      </p:sp>
      <p:pic>
        <p:nvPicPr>
          <p:cNvPr id="17" name="Picture 16" descr="app_home_phone.jpg"/>
          <p:cNvPicPr>
            <a:picLocks noChangeAspect="1"/>
          </p:cNvPicPr>
          <p:nvPr/>
        </p:nvPicPr>
        <p:blipFill>
          <a:blip r:embed="rId6"/>
          <a:stretch>
            <a:fillRect/>
          </a:stretch>
        </p:blipFill>
        <p:spPr>
          <a:xfrm>
            <a:off x="9848088" y="1783080"/>
            <a:ext cx="1889102" cy="3977639"/>
          </a:xfrm>
          <a:prstGeom prst="rect">
            <a:avLst/>
          </a:prstGeom>
        </p:spPr>
      </p:pic>
      <p:sp>
        <p:nvSpPr>
          <p:cNvPr id="18" name="TextBox 17"/>
          <p:cNvSpPr txBox="1"/>
          <p:nvPr/>
        </p:nvSpPr>
        <p:spPr>
          <a:xfrm>
            <a:off x="9665208" y="5852160"/>
            <a:ext cx="2148840" cy="320040"/>
          </a:xfrm>
          <a:prstGeom prst="rect">
            <a:avLst/>
          </a:prstGeom>
          <a:noFill/>
        </p:spPr>
        <p:txBody>
          <a:bodyPr wrap="square" anchor="t">
            <a:spAutoFit/>
          </a:bodyPr>
          <a:lstStyle/>
          <a:p>
            <a:pPr algn="ctr"/>
            <a:r>
              <a:rPr sz="1200" b="0">
                <a:solidFill>
                  <a:srgbClr val="5A675F"/>
                </a:solidFill>
                <a:latin typeface="Outfit"/>
                <a:ea typeface="Outfit"/>
                <a:cs typeface="Outfit"/>
              </a:rPr>
              <a:t>Observe patterns</a:t>
            </a:r>
          </a:p>
        </p:txBody>
      </p:sp>
      <p:sp>
        <p:nvSpPr>
          <p:cNvPr id="19" name="TextBox 1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20" name="TextBox 1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Privacy and safety are product architecture—not policy promises.</a:t>
            </a:r>
          </a:p>
        </p:txBody>
      </p:sp>
      <p:sp>
        <p:nvSpPr>
          <p:cNvPr id="4" name="Rectangle 3"/>
          <p:cNvSpPr/>
          <p:nvPr/>
        </p:nvSpPr>
        <p:spPr>
          <a:xfrm>
            <a:off x="59436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User</a:t>
            </a:r>
          </a:p>
        </p:txBody>
      </p:sp>
      <p:sp>
        <p:nvSpPr>
          <p:cNvPr id="6" name="Rectangle 5"/>
          <p:cNvSpPr/>
          <p:nvPr/>
        </p:nvSpPr>
        <p:spPr>
          <a:xfrm>
            <a:off x="324612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3756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Android app</a:t>
            </a:r>
          </a:p>
        </p:txBody>
      </p:sp>
      <p:sp>
        <p:nvSpPr>
          <p:cNvPr id="8" name="Rectangle 7"/>
          <p:cNvSpPr/>
          <p:nvPr/>
        </p:nvSpPr>
        <p:spPr>
          <a:xfrm>
            <a:off x="589788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Local storage</a:t>
            </a:r>
          </a:p>
        </p:txBody>
      </p:sp>
      <p:sp>
        <p:nvSpPr>
          <p:cNvPr id="10" name="Rectangle 9"/>
          <p:cNvSpPr/>
          <p:nvPr/>
        </p:nvSpPr>
        <p:spPr>
          <a:xfrm>
            <a:off x="854964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4108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On-device AI +
local safety</a:t>
            </a:r>
          </a:p>
        </p:txBody>
      </p:sp>
      <p:sp>
        <p:nvSpPr>
          <p:cNvPr id="12" name="TextBox 11"/>
          <p:cNvSpPr txBox="1"/>
          <p:nvPr/>
        </p:nvSpPr>
        <p:spPr>
          <a:xfrm>
            <a:off x="2926080" y="1600200"/>
            <a:ext cx="320040" cy="457200"/>
          </a:xfrm>
          <a:prstGeom prst="rect">
            <a:avLst/>
          </a:prstGeom>
          <a:noFill/>
        </p:spPr>
        <p:txBody>
          <a:bodyPr wrap="square" anchor="t">
            <a:spAutoFit/>
          </a:bodyPr>
          <a:lstStyle/>
          <a:p>
            <a:pPr algn="l"/>
            <a:r>
              <a:rPr sz="2200" b="1">
                <a:solidFill>
                  <a:srgbClr val="3D6B5A"/>
                </a:solidFill>
                <a:latin typeface="Fraunces"/>
                <a:ea typeface="Fraunces"/>
                <a:cs typeface="Fraunces"/>
              </a:rPr>
              <a:t>→</a:t>
            </a:r>
          </a:p>
        </p:txBody>
      </p:sp>
      <p:sp>
        <p:nvSpPr>
          <p:cNvPr id="13" name="TextBox 12"/>
          <p:cNvSpPr txBox="1"/>
          <p:nvPr/>
        </p:nvSpPr>
        <p:spPr>
          <a:xfrm>
            <a:off x="5577840" y="1600200"/>
            <a:ext cx="320040" cy="457200"/>
          </a:xfrm>
          <a:prstGeom prst="rect">
            <a:avLst/>
          </a:prstGeom>
          <a:noFill/>
        </p:spPr>
        <p:txBody>
          <a:bodyPr wrap="square" anchor="t">
            <a:spAutoFit/>
          </a:bodyPr>
          <a:lstStyle/>
          <a:p>
            <a:pPr algn="l"/>
            <a:r>
              <a:rPr sz="2200" b="1">
                <a:solidFill>
                  <a:srgbClr val="3D6B5A"/>
                </a:solidFill>
                <a:latin typeface="Fraunces"/>
                <a:ea typeface="Fraunces"/>
                <a:cs typeface="Fraunces"/>
              </a:rPr>
              <a:t>→</a:t>
            </a:r>
          </a:p>
        </p:txBody>
      </p:sp>
      <p:sp>
        <p:nvSpPr>
          <p:cNvPr id="14" name="TextBox 13"/>
          <p:cNvSpPr txBox="1"/>
          <p:nvPr/>
        </p:nvSpPr>
        <p:spPr>
          <a:xfrm>
            <a:off x="8229600" y="1600200"/>
            <a:ext cx="320040" cy="457200"/>
          </a:xfrm>
          <a:prstGeom prst="rect">
            <a:avLst/>
          </a:prstGeom>
          <a:noFill/>
        </p:spPr>
        <p:txBody>
          <a:bodyPr wrap="square" anchor="t">
            <a:spAutoFit/>
          </a:bodyPr>
          <a:lstStyle/>
          <a:p>
            <a:pPr algn="l"/>
            <a:r>
              <a:rPr sz="2200" b="1">
                <a:solidFill>
                  <a:srgbClr val="3D6B5A"/>
                </a:solidFill>
                <a:latin typeface="Fraunces"/>
                <a:ea typeface="Fraunces"/>
                <a:cs typeface="Fraunces"/>
              </a:rPr>
              <a:t>→</a:t>
            </a:r>
          </a:p>
        </p:txBody>
      </p:sp>
      <p:sp>
        <p:nvSpPr>
          <p:cNvPr id="15" name="TextBox 14"/>
          <p:cNvSpPr txBox="1"/>
          <p:nvPr/>
        </p:nvSpPr>
        <p:spPr>
          <a:xfrm>
            <a:off x="594360" y="2651760"/>
            <a:ext cx="6766560" cy="3200400"/>
          </a:xfrm>
          <a:prstGeom prst="rect">
            <a:avLst/>
          </a:prstGeom>
          <a:noFill/>
        </p:spPr>
        <p:txBody>
          <a:bodyPr wrap="square">
            <a:spAutoFit/>
          </a:bodyPr>
          <a:lstStyle/>
          <a:p>
            <a:pPr>
              <a:spcAft>
                <a:spcPts val="800"/>
              </a:spcAft>
            </a:pPr>
            <a:r>
              <a:rPr sz="1400" b="0">
                <a:solidFill>
                  <a:srgbClr val="1C2420"/>
                </a:solidFill>
                <a:latin typeface="Outfit"/>
                <a:ea typeface="Outfit"/>
                <a:cs typeface="Outfit"/>
              </a:rPr>
              <a:t>•  Journals, moods, thought records, voice notes and conversations remain on the device.</a:t>
            </a:r>
          </a:p>
          <a:p>
            <a:pPr>
              <a:spcAft>
                <a:spcPts val="800"/>
              </a:spcAft>
            </a:pPr>
            <a:r>
              <a:rPr sz="1400" b="0">
                <a:solidFill>
                  <a:srgbClr val="1C2420"/>
                </a:solidFill>
                <a:latin typeface="Outfit"/>
                <a:ea typeface="Outfit"/>
                <a:cs typeface="Outfit"/>
              </a:rPr>
              <a:t>•  On-device intelligence supports CBT-informed and general-wellness workflows.</a:t>
            </a:r>
          </a:p>
          <a:p>
            <a:pPr>
              <a:spcAft>
                <a:spcPts val="800"/>
              </a:spcAft>
            </a:pPr>
            <a:r>
              <a:rPr sz="1400" b="0">
                <a:solidFill>
                  <a:srgbClr val="1C2420"/>
                </a:solidFill>
                <a:latin typeface="Outfit"/>
                <a:ea typeface="Outfit"/>
                <a:cs typeface="Outfit"/>
              </a:rPr>
              <a:t>•  Local safety logic can present appropriate crisis resources; Oppuna is not an emergency service.</a:t>
            </a:r>
          </a:p>
          <a:p>
            <a:pPr>
              <a:spcAft>
                <a:spcPts val="800"/>
              </a:spcAft>
            </a:pPr>
            <a:r>
              <a:rPr sz="1400" b="0">
                <a:solidFill>
                  <a:srgbClr val="1C2420"/>
                </a:solidFill>
                <a:latin typeface="Outfit"/>
                <a:ea typeface="Outfit"/>
                <a:cs typeface="Outfit"/>
              </a:rPr>
              <a:t>•  Export and delete controls provide user control; offline operation is first-class.</a:t>
            </a:r>
          </a:p>
          <a:p>
            <a:pPr>
              <a:spcAft>
                <a:spcPts val="800"/>
              </a:spcAft>
            </a:pPr>
            <a:r>
              <a:rPr sz="1400" b="0">
                <a:solidFill>
                  <a:srgbClr val="1C2420"/>
                </a:solidFill>
                <a:latin typeface="Outfit"/>
                <a:ea typeface="Outfit"/>
                <a:cs typeface="Outfit"/>
              </a:rPr>
              <a:t>•  Optional device biometric / PIN app lock is available; SQLCipher-class database encryption is a funded improvement—not a current claim.</a:t>
            </a:r>
          </a:p>
        </p:txBody>
      </p:sp>
      <p:sp>
        <p:nvSpPr>
          <p:cNvPr id="16" name="Rectangle 15"/>
          <p:cNvSpPr/>
          <p:nvPr/>
        </p:nvSpPr>
        <p:spPr>
          <a:xfrm>
            <a:off x="7680960" y="2651760"/>
            <a:ext cx="3886200" cy="310896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560" y="2834640"/>
            <a:ext cx="3520440" cy="365760"/>
          </a:xfrm>
          <a:prstGeom prst="rect">
            <a:avLst/>
          </a:prstGeom>
          <a:noFill/>
        </p:spPr>
        <p:txBody>
          <a:bodyPr wrap="square" anchor="t">
            <a:spAutoFit/>
          </a:bodyPr>
          <a:lstStyle/>
          <a:p>
            <a:pPr algn="l"/>
            <a:r>
              <a:rPr sz="1400" b="1">
                <a:solidFill>
                  <a:srgbClr val="3D6B5A"/>
                </a:solidFill>
                <a:latin typeface="Outfit"/>
                <a:ea typeface="Outfit"/>
                <a:cs typeface="Outfit"/>
              </a:rPr>
              <a:t>Shipped now vs funded</a:t>
            </a:r>
          </a:p>
        </p:txBody>
      </p:sp>
      <p:sp>
        <p:nvSpPr>
          <p:cNvPr id="18" name="TextBox 17"/>
          <p:cNvSpPr txBox="1"/>
          <p:nvPr/>
        </p:nvSpPr>
        <p:spPr>
          <a:xfrm>
            <a:off x="7909560" y="3246120"/>
            <a:ext cx="3520440" cy="2286000"/>
          </a:xfrm>
          <a:prstGeom prst="rect">
            <a:avLst/>
          </a:prstGeom>
          <a:noFill/>
        </p:spPr>
        <p:txBody>
          <a:bodyPr wrap="square" anchor="t">
            <a:spAutoFit/>
          </a:bodyPr>
          <a:lstStyle/>
          <a:p>
            <a:pPr algn="l"/>
            <a:r>
              <a:rPr sz="1300" b="0">
                <a:solidFill>
                  <a:srgbClr val="1C2420"/>
                </a:solidFill>
                <a:latin typeface="Outfit"/>
                <a:ea typeface="Outfit"/>
                <a:cs typeface="Outfit"/>
              </a:rPr>
              <a:t>Shipped: local storage, offline companion, CBT-informed workflows, crisis-resource presentation, export/delete, optional app lock.
Funded: stronger on-device models, encryption hardening, broader device validation, professional CBT review, multilingual voice depth.</a:t>
            </a:r>
          </a:p>
        </p:txBody>
      </p:sp>
      <p:sp>
        <p:nvSpPr>
          <p:cNvPr id="19" name="TextBox 1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20" name="TextBox 1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Early users are returning to a private, structured experience.</a:t>
            </a:r>
          </a:p>
        </p:txBody>
      </p:sp>
      <p:sp>
        <p:nvSpPr>
          <p:cNvPr id="4" name="Rectangle 3"/>
          <p:cNvSpPr/>
          <p:nvPr/>
        </p:nvSpPr>
        <p:spPr>
          <a:xfrm>
            <a:off x="594360" y="1554480"/>
            <a:ext cx="5212080" cy="219456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74519"/>
            <a:ext cx="4754880" cy="822960"/>
          </a:xfrm>
          <a:prstGeom prst="rect">
            <a:avLst/>
          </a:prstGeom>
          <a:noFill/>
        </p:spPr>
        <p:txBody>
          <a:bodyPr wrap="square" anchor="t">
            <a:spAutoFit/>
          </a:bodyPr>
          <a:lstStyle/>
          <a:p>
            <a:pPr algn="ctr"/>
            <a:r>
              <a:rPr sz="4800" b="1">
                <a:solidFill>
                  <a:srgbClr val="2F5446"/>
                </a:solidFill>
                <a:latin typeface="Fraunces"/>
                <a:ea typeface="Fraunces"/>
                <a:cs typeface="Fraunces"/>
              </a:rPr>
              <a:t>80–100</a:t>
            </a:r>
          </a:p>
        </p:txBody>
      </p:sp>
      <p:sp>
        <p:nvSpPr>
          <p:cNvPr id="6" name="TextBox 5"/>
          <p:cNvSpPr txBox="1"/>
          <p:nvPr/>
        </p:nvSpPr>
        <p:spPr>
          <a:xfrm>
            <a:off x="868680" y="2834640"/>
            <a:ext cx="4754880" cy="457200"/>
          </a:xfrm>
          <a:prstGeom prst="rect">
            <a:avLst/>
          </a:prstGeom>
          <a:noFill/>
        </p:spPr>
        <p:txBody>
          <a:bodyPr wrap="square" anchor="t">
            <a:spAutoFit/>
          </a:bodyPr>
          <a:lstStyle/>
          <a:p>
            <a:pPr algn="ctr"/>
            <a:r>
              <a:rPr sz="1800" b="0">
                <a:solidFill>
                  <a:srgbClr val="5A675F"/>
                </a:solidFill>
                <a:latin typeface="Outfit"/>
                <a:ea typeface="Outfit"/>
                <a:cs typeface="Outfit"/>
              </a:rPr>
              <a:t>Early users</a:t>
            </a:r>
          </a:p>
        </p:txBody>
      </p:sp>
      <p:sp>
        <p:nvSpPr>
          <p:cNvPr id="7" name="Rectangle 6"/>
          <p:cNvSpPr/>
          <p:nvPr/>
        </p:nvSpPr>
        <p:spPr>
          <a:xfrm>
            <a:off x="6355080" y="1554480"/>
            <a:ext cx="5212080" cy="219456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9400" y="1874519"/>
            <a:ext cx="4754880" cy="822960"/>
          </a:xfrm>
          <a:prstGeom prst="rect">
            <a:avLst/>
          </a:prstGeom>
          <a:noFill/>
        </p:spPr>
        <p:txBody>
          <a:bodyPr wrap="square" anchor="t">
            <a:spAutoFit/>
          </a:bodyPr>
          <a:lstStyle/>
          <a:p>
            <a:pPr algn="ctr"/>
            <a:r>
              <a:rPr sz="4800" b="1">
                <a:solidFill>
                  <a:srgbClr val="2F5446"/>
                </a:solidFill>
                <a:latin typeface="Fraunces"/>
                <a:ea typeface="Fraunces"/>
                <a:cs typeface="Fraunces"/>
              </a:rPr>
              <a:t>~90%</a:t>
            </a:r>
          </a:p>
        </p:txBody>
      </p:sp>
      <p:sp>
        <p:nvSpPr>
          <p:cNvPr id="9" name="TextBox 8"/>
          <p:cNvSpPr txBox="1"/>
          <p:nvPr/>
        </p:nvSpPr>
        <p:spPr>
          <a:xfrm>
            <a:off x="6629400" y="2788920"/>
            <a:ext cx="4754880" cy="640080"/>
          </a:xfrm>
          <a:prstGeom prst="rect">
            <a:avLst/>
          </a:prstGeom>
          <a:noFill/>
        </p:spPr>
        <p:txBody>
          <a:bodyPr wrap="square" anchor="t">
            <a:spAutoFit/>
          </a:bodyPr>
          <a:lstStyle/>
          <a:p>
            <a:pPr algn="ctr"/>
            <a:r>
              <a:rPr sz="1600" b="0">
                <a:solidFill>
                  <a:srgbClr val="5A675F"/>
                </a:solidFill>
                <a:latin typeface="Outfit"/>
                <a:ea typeface="Outfit"/>
                <a:cs typeface="Outfit"/>
              </a:rPr>
              <a:t>Returned during the current
observation period</a:t>
            </a:r>
          </a:p>
        </p:txBody>
      </p:sp>
      <p:sp>
        <p:nvSpPr>
          <p:cNvPr id="10" name="TextBox 9"/>
          <p:cNvSpPr txBox="1"/>
          <p:nvPr/>
        </p:nvSpPr>
        <p:spPr>
          <a:xfrm>
            <a:off x="594360" y="4023360"/>
            <a:ext cx="10972800" cy="640080"/>
          </a:xfrm>
          <a:prstGeom prst="rect">
            <a:avLst/>
          </a:prstGeom>
          <a:noFill/>
        </p:spPr>
        <p:txBody>
          <a:bodyPr wrap="square" anchor="t">
            <a:spAutoFit/>
          </a:bodyPr>
          <a:lstStyle/>
          <a:p>
            <a:pPr algn="l"/>
            <a:r>
              <a:rPr sz="1600" b="0">
                <a:solidFill>
                  <a:srgbClr val="1C2420"/>
                </a:solidFill>
                <a:latin typeface="Outfit"/>
                <a:ea typeface="Outfit"/>
                <a:cs typeface="Outfit"/>
              </a:rPr>
              <a:t>Live on Google Play · Production website at oppuna.com
Approximately 90% of tracked early users returned during the current observation period.</a:t>
            </a:r>
          </a:p>
        </p:txBody>
      </p:sp>
      <p:sp>
        <p:nvSpPr>
          <p:cNvPr id="11" name="TextBox 10"/>
          <p:cNvSpPr txBox="1"/>
          <p:nvPr/>
        </p:nvSpPr>
        <p:spPr>
          <a:xfrm>
            <a:off x="594360" y="4937760"/>
            <a:ext cx="10972800" cy="1005840"/>
          </a:xfrm>
          <a:prstGeom prst="rect">
            <a:avLst/>
          </a:prstGeom>
          <a:noFill/>
        </p:spPr>
        <p:txBody>
          <a:bodyPr wrap="square" anchor="t">
            <a:spAutoFit/>
          </a:bodyPr>
          <a:lstStyle/>
          <a:p>
            <a:pPr algn="l"/>
            <a:r>
              <a:rPr sz="1300" b="0">
                <a:solidFill>
                  <a:srgbClr val="5A675F"/>
                </a:solidFill>
                <a:latin typeface="Outfit"/>
                <a:ea typeface="Outfit"/>
                <a:cs typeface="Outfit"/>
              </a:rPr>
              <a:t>Founder-reported early-user tracking across approximately 80–100 users. The current return measure is directional and is not yet equivalent to standard D7 or D30 cohort retention.</a:t>
            </a:r>
          </a:p>
        </p:txBody>
      </p:sp>
      <p:sp>
        <p:nvSpPr>
          <p:cNvPr id="12" name="TextBox 11"/>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3" name="TextBox 12"/>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India is the starting point for private, accessible CBT-informed wellness.</a:t>
            </a:r>
          </a:p>
        </p:txBody>
      </p:sp>
      <p:sp>
        <p:nvSpPr>
          <p:cNvPr id="4" name="TextBox 3"/>
          <p:cNvSpPr txBox="1"/>
          <p:nvPr/>
        </p:nvSpPr>
        <p:spPr>
          <a:xfrm>
            <a:off x="594360" y="1371600"/>
            <a:ext cx="6766560" cy="320040"/>
          </a:xfrm>
          <a:prstGeom prst="rect">
            <a:avLst/>
          </a:prstGeom>
          <a:noFill/>
        </p:spPr>
        <p:txBody>
          <a:bodyPr wrap="square" anchor="t">
            <a:spAutoFit/>
          </a:bodyPr>
          <a:lstStyle/>
          <a:p>
            <a:pPr algn="l"/>
            <a:r>
              <a:rPr sz="1400" b="1">
                <a:solidFill>
                  <a:srgbClr val="3D6B5A"/>
                </a:solidFill>
                <a:latin typeface="Outfit"/>
                <a:ea typeface="Outfit"/>
                <a:cs typeface="Outfit"/>
              </a:rPr>
              <a:t>Initial customer wedge</a:t>
            </a:r>
          </a:p>
        </p:txBody>
      </p:sp>
      <p:sp>
        <p:nvSpPr>
          <p:cNvPr id="5" name="TextBox 4"/>
          <p:cNvSpPr txBox="1"/>
          <p:nvPr/>
        </p:nvSpPr>
        <p:spPr>
          <a:xfrm>
            <a:off x="594360" y="1737360"/>
            <a:ext cx="6766560" cy="2377440"/>
          </a:xfrm>
          <a:prstGeom prst="rect">
            <a:avLst/>
          </a:prstGeom>
          <a:noFill/>
        </p:spPr>
        <p:txBody>
          <a:bodyPr wrap="square">
            <a:spAutoFit/>
          </a:bodyPr>
          <a:lstStyle/>
          <a:p>
            <a:pPr>
              <a:spcAft>
                <a:spcPts val="800"/>
              </a:spcAft>
            </a:pPr>
            <a:r>
              <a:rPr sz="1500" b="0">
                <a:solidFill>
                  <a:srgbClr val="1C2420"/>
                </a:solidFill>
                <a:latin typeface="Outfit"/>
                <a:ea typeface="Outfit"/>
                <a:cs typeface="Outfit"/>
              </a:rPr>
              <a:t>•  Android-first adults in India</a:t>
            </a:r>
          </a:p>
          <a:p>
            <a:pPr>
              <a:spcAft>
                <a:spcPts val="800"/>
              </a:spcAft>
            </a:pPr>
            <a:r>
              <a:rPr sz="1500" b="0">
                <a:solidFill>
                  <a:srgbClr val="1C2420"/>
                </a:solidFill>
                <a:latin typeface="Outfit"/>
                <a:ea typeface="Outfit"/>
                <a:cs typeface="Outfit"/>
              </a:rPr>
              <a:t>•  Privacy-conscious users</a:t>
            </a:r>
          </a:p>
          <a:p>
            <a:pPr>
              <a:spcAft>
                <a:spcPts val="800"/>
              </a:spcAft>
            </a:pPr>
            <a:r>
              <a:rPr sz="1500" b="0">
                <a:solidFill>
                  <a:srgbClr val="1C2420"/>
                </a:solidFill>
                <a:latin typeface="Outfit"/>
                <a:ea typeface="Outfit"/>
                <a:cs typeface="Outfit"/>
              </a:rPr>
              <a:t>•  People with inconsistent connectivity</a:t>
            </a:r>
          </a:p>
          <a:p>
            <a:pPr>
              <a:spcAft>
                <a:spcPts val="800"/>
              </a:spcAft>
            </a:pPr>
            <a:r>
              <a:rPr sz="1500" b="0">
                <a:solidFill>
                  <a:srgbClr val="1C2420"/>
                </a:solidFill>
                <a:latin typeface="Outfit"/>
                <a:ea typeface="Outfit"/>
                <a:cs typeface="Outfit"/>
              </a:rPr>
              <a:t>•  Users seeking structured self-reflection rather than clinical treatment</a:t>
            </a:r>
          </a:p>
          <a:p>
            <a:pPr>
              <a:spcAft>
                <a:spcPts val="800"/>
              </a:spcAft>
            </a:pPr>
            <a:r>
              <a:rPr sz="1500" b="0">
                <a:solidFill>
                  <a:srgbClr val="1C2420"/>
                </a:solidFill>
                <a:latin typeface="Outfit"/>
                <a:ea typeface="Outfit"/>
                <a:cs typeface="Outfit"/>
              </a:rPr>
              <a:t>•  Regional-language and voice-first users</a:t>
            </a:r>
          </a:p>
        </p:txBody>
      </p:sp>
      <p:sp>
        <p:nvSpPr>
          <p:cNvPr id="6" name="Rectangle 5"/>
          <p:cNvSpPr/>
          <p:nvPr/>
        </p:nvSpPr>
        <p:spPr>
          <a:xfrm>
            <a:off x="7680960" y="1371600"/>
            <a:ext cx="388620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554480"/>
            <a:ext cx="3520440" cy="365760"/>
          </a:xfrm>
          <a:prstGeom prst="rect">
            <a:avLst/>
          </a:prstGeom>
          <a:noFill/>
        </p:spPr>
        <p:txBody>
          <a:bodyPr wrap="square" anchor="t">
            <a:spAutoFit/>
          </a:bodyPr>
          <a:lstStyle/>
          <a:p>
            <a:pPr algn="l"/>
            <a:r>
              <a:rPr sz="1800" b="1">
                <a:solidFill>
                  <a:srgbClr val="2F5446"/>
                </a:solidFill>
                <a:latin typeface="Fraunces"/>
                <a:ea typeface="Fraunces"/>
                <a:cs typeface="Fraunces"/>
              </a:rPr>
              <a:t>Market framing</a:t>
            </a:r>
          </a:p>
        </p:txBody>
      </p:sp>
      <p:sp>
        <p:nvSpPr>
          <p:cNvPr id="8" name="TextBox 7"/>
          <p:cNvSpPr txBox="1"/>
          <p:nvPr/>
        </p:nvSpPr>
        <p:spPr>
          <a:xfrm>
            <a:off x="7909560" y="2057400"/>
            <a:ext cx="3520440" cy="3383280"/>
          </a:xfrm>
          <a:prstGeom prst="rect">
            <a:avLst/>
          </a:prstGeom>
          <a:noFill/>
        </p:spPr>
        <p:txBody>
          <a:bodyPr wrap="square" anchor="t">
            <a:spAutoFit/>
          </a:bodyPr>
          <a:lstStyle/>
          <a:p>
            <a:pPr algn="l"/>
            <a:r>
              <a:rPr sz="1300" b="0">
                <a:solidFill>
                  <a:srgbClr val="1C2420"/>
                </a:solidFill>
                <a:latin typeface="Outfit"/>
                <a:ea typeface="Outfit"/>
                <a:cs typeface="Outfit"/>
              </a:rPr>
              <a:t>Enabling market
958M active internet users in India (IAMAI–Kantar 2025). Android dominates India mobile OS traffic (~94.8%, Statcounter Mar 2025).
Initial segment
Privacy-seeking Android adults who want structured CBT-informed self-help that works offline.
18-month target
5,000 monthly active users with defined retention and early paid conversion.
Expansion
Institutional pilots → embeddable SDK for partners.</a:t>
            </a:r>
          </a:p>
        </p:txBody>
      </p:sp>
      <p:sp>
        <p:nvSpPr>
          <p:cNvPr id="9" name="TextBox 8"/>
          <p:cNvSpPr txBox="1"/>
          <p:nvPr/>
        </p:nvSpPr>
        <p:spPr>
          <a:xfrm>
            <a:off x="594360" y="4572000"/>
            <a:ext cx="6766560" cy="1371600"/>
          </a:xfrm>
          <a:prstGeom prst="rect">
            <a:avLst/>
          </a:prstGeom>
          <a:noFill/>
        </p:spPr>
        <p:txBody>
          <a:bodyPr wrap="square" anchor="t">
            <a:spAutoFit/>
          </a:bodyPr>
          <a:lstStyle/>
          <a:p>
            <a:pPr algn="l"/>
            <a:r>
              <a:rPr sz="1400" b="0">
                <a:solidFill>
                  <a:srgbClr val="5A675F"/>
                </a:solidFill>
                <a:latin typeface="Outfit"/>
                <a:ea typeface="Outfit"/>
                <a:cs typeface="Outfit"/>
              </a:rPr>
              <a:t>These figures are enabling-context statistics, not a multiplied TAM. Oppuna does not treat clinical prevalence as its addressable customer count. The near-term job is to prove retention and willingness to pay inside a focused wedge.</a:t>
            </a:r>
          </a:p>
        </p:txBody>
      </p:sp>
      <p:sp>
        <p:nvSpPr>
          <p:cNvPr id="10" name="TextBox 9"/>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1" name="TextBox 10"/>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The core remains free; revenue comes from depth and distribution.</a:t>
            </a:r>
          </a:p>
        </p:txBody>
      </p:sp>
      <p:sp>
        <p:nvSpPr>
          <p:cNvPr id="4" name="TextBox 3"/>
          <p:cNvSpPr txBox="1"/>
          <p:nvPr/>
        </p:nvSpPr>
        <p:spPr>
          <a:xfrm>
            <a:off x="594360" y="1325880"/>
            <a:ext cx="10972800" cy="502920"/>
          </a:xfrm>
          <a:prstGeom prst="rect">
            <a:avLst/>
          </a:prstGeom>
          <a:noFill/>
        </p:spPr>
        <p:txBody>
          <a:bodyPr wrap="square" anchor="t">
            <a:spAutoFit/>
          </a:bodyPr>
          <a:lstStyle/>
          <a:p>
            <a:pPr algn="l"/>
            <a:r>
              <a:rPr sz="1400" b="0">
                <a:solidFill>
                  <a:srgbClr val="1C2420"/>
                </a:solidFill>
                <a:latin typeface="Outfit"/>
                <a:ea typeface="Outfit"/>
                <a:cs typeface="Outfit"/>
              </a:rPr>
              <a:t>Investment thesis: Oppuna is the consumer proof point for a privacy-first, on-device CBT-informed wellness engine. Consumer adoption validates the product; Oppuna Plus and institutional programs provide early revenue; the longer-term SDK creates platform leverage.</a:t>
            </a:r>
          </a:p>
        </p:txBody>
      </p:sp>
      <p:sp>
        <p:nvSpPr>
          <p:cNvPr id="5" name="Rectangle 4"/>
          <p:cNvSpPr/>
          <p:nvPr/>
        </p:nvSpPr>
        <p:spPr>
          <a:xfrm>
            <a:off x="594360" y="2011680"/>
            <a:ext cx="2743200" cy="214884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148840"/>
            <a:ext cx="2377440" cy="320040"/>
          </a:xfrm>
          <a:prstGeom prst="rect">
            <a:avLst/>
          </a:prstGeom>
          <a:noFill/>
        </p:spPr>
        <p:txBody>
          <a:bodyPr wrap="square" anchor="t">
            <a:spAutoFit/>
          </a:bodyPr>
          <a:lstStyle/>
          <a:p>
            <a:pPr algn="l"/>
            <a:r>
              <a:rPr sz="1200" b="1">
                <a:solidFill>
                  <a:srgbClr val="DCE8E2"/>
                </a:solidFill>
                <a:latin typeface="Outfit"/>
                <a:ea typeface="Outfit"/>
                <a:cs typeface="Outfit"/>
              </a:rPr>
              <a:t>1  Now</a:t>
            </a:r>
          </a:p>
        </p:txBody>
      </p:sp>
      <p:sp>
        <p:nvSpPr>
          <p:cNvPr id="7" name="TextBox 6"/>
          <p:cNvSpPr txBox="1"/>
          <p:nvPr/>
        </p:nvSpPr>
        <p:spPr>
          <a:xfrm>
            <a:off x="777240" y="2514600"/>
            <a:ext cx="2377440" cy="502920"/>
          </a:xfrm>
          <a:prstGeom prst="rect">
            <a:avLst/>
          </a:prstGeom>
          <a:noFill/>
        </p:spPr>
        <p:txBody>
          <a:bodyPr wrap="square" anchor="t">
            <a:spAutoFit/>
          </a:bodyPr>
          <a:lstStyle/>
          <a:p>
            <a:pPr algn="l"/>
            <a:r>
              <a:rPr sz="1800" b="1">
                <a:solidFill>
                  <a:srgbClr val="FFFFFF"/>
                </a:solidFill>
                <a:latin typeface="Fraunces"/>
                <a:ea typeface="Fraunces"/>
                <a:cs typeface="Fraunces"/>
              </a:rPr>
              <a:t>Free core</a:t>
            </a:r>
          </a:p>
        </p:txBody>
      </p:sp>
      <p:sp>
        <p:nvSpPr>
          <p:cNvPr id="8" name="TextBox 7"/>
          <p:cNvSpPr txBox="1"/>
          <p:nvPr/>
        </p:nvSpPr>
        <p:spPr>
          <a:xfrm>
            <a:off x="777240" y="3154680"/>
            <a:ext cx="2377440" cy="731520"/>
          </a:xfrm>
          <a:prstGeom prst="rect">
            <a:avLst/>
          </a:prstGeom>
          <a:noFill/>
        </p:spPr>
        <p:txBody>
          <a:bodyPr wrap="square" anchor="t">
            <a:spAutoFit/>
          </a:bodyPr>
          <a:lstStyle/>
          <a:p>
            <a:pPr algn="l"/>
            <a:r>
              <a:rPr sz="1300" b="0">
                <a:solidFill>
                  <a:srgbClr val="DCE8E2"/>
                </a:solidFill>
                <a:latin typeface="Outfit"/>
                <a:ea typeface="Outfit"/>
                <a:cs typeface="Outfit"/>
              </a:rPr>
              <a:t>Trust, access and daily engagement</a:t>
            </a:r>
          </a:p>
        </p:txBody>
      </p:sp>
      <p:sp>
        <p:nvSpPr>
          <p:cNvPr id="9" name="Rectangle 8"/>
          <p:cNvSpPr/>
          <p:nvPr/>
        </p:nvSpPr>
        <p:spPr>
          <a:xfrm>
            <a:off x="3474720" y="2011680"/>
            <a:ext cx="2743200" cy="2148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148840"/>
            <a:ext cx="2377440" cy="320040"/>
          </a:xfrm>
          <a:prstGeom prst="rect">
            <a:avLst/>
          </a:prstGeom>
          <a:noFill/>
        </p:spPr>
        <p:txBody>
          <a:bodyPr wrap="square" anchor="t">
            <a:spAutoFit/>
          </a:bodyPr>
          <a:lstStyle/>
          <a:p>
            <a:pPr algn="l"/>
            <a:r>
              <a:rPr sz="1200" b="1">
                <a:solidFill>
                  <a:srgbClr val="5A675F"/>
                </a:solidFill>
                <a:latin typeface="Outfit"/>
                <a:ea typeface="Outfit"/>
                <a:cs typeface="Outfit"/>
              </a:rPr>
              <a:t>2  Near-term</a:t>
            </a:r>
          </a:p>
        </p:txBody>
      </p:sp>
      <p:sp>
        <p:nvSpPr>
          <p:cNvPr id="11" name="TextBox 10"/>
          <p:cNvSpPr txBox="1"/>
          <p:nvPr/>
        </p:nvSpPr>
        <p:spPr>
          <a:xfrm>
            <a:off x="3657600" y="2514600"/>
            <a:ext cx="2377440" cy="502920"/>
          </a:xfrm>
          <a:prstGeom prst="rect">
            <a:avLst/>
          </a:prstGeom>
          <a:noFill/>
        </p:spPr>
        <p:txBody>
          <a:bodyPr wrap="square" anchor="t">
            <a:spAutoFit/>
          </a:bodyPr>
          <a:lstStyle/>
          <a:p>
            <a:pPr algn="l"/>
            <a:r>
              <a:rPr sz="1800" b="1">
                <a:solidFill>
                  <a:srgbClr val="2F5446"/>
                </a:solidFill>
                <a:latin typeface="Fraunces"/>
                <a:ea typeface="Fraunces"/>
                <a:cs typeface="Fraunces"/>
              </a:rPr>
              <a:t>Oppuna Plus</a:t>
            </a:r>
          </a:p>
        </p:txBody>
      </p:sp>
      <p:sp>
        <p:nvSpPr>
          <p:cNvPr id="12" name="TextBox 11"/>
          <p:cNvSpPr txBox="1"/>
          <p:nvPr/>
        </p:nvSpPr>
        <p:spPr>
          <a:xfrm>
            <a:off x="3657600" y="3154680"/>
            <a:ext cx="2377440" cy="731520"/>
          </a:xfrm>
          <a:prstGeom prst="rect">
            <a:avLst/>
          </a:prstGeom>
          <a:noFill/>
        </p:spPr>
        <p:txBody>
          <a:bodyPr wrap="square" anchor="t">
            <a:spAutoFit/>
          </a:bodyPr>
          <a:lstStyle/>
          <a:p>
            <a:pPr algn="l"/>
            <a:r>
              <a:rPr sz="1300" b="0">
                <a:solidFill>
                  <a:srgbClr val="5A675F"/>
                </a:solidFill>
                <a:latin typeface="Outfit"/>
                <a:ea typeface="Outfit"/>
                <a:cs typeface="Outfit"/>
              </a:rPr>
              <a:t>Depth, voice and personalisation</a:t>
            </a:r>
          </a:p>
        </p:txBody>
      </p:sp>
      <p:sp>
        <p:nvSpPr>
          <p:cNvPr id="13" name="Rectangle 12"/>
          <p:cNvSpPr/>
          <p:nvPr/>
        </p:nvSpPr>
        <p:spPr>
          <a:xfrm>
            <a:off x="6355080" y="2011680"/>
            <a:ext cx="2743200" cy="2148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2148840"/>
            <a:ext cx="2377440" cy="320040"/>
          </a:xfrm>
          <a:prstGeom prst="rect">
            <a:avLst/>
          </a:prstGeom>
          <a:noFill/>
        </p:spPr>
        <p:txBody>
          <a:bodyPr wrap="square" anchor="t">
            <a:spAutoFit/>
          </a:bodyPr>
          <a:lstStyle/>
          <a:p>
            <a:pPr algn="l"/>
            <a:r>
              <a:rPr sz="1200" b="1">
                <a:solidFill>
                  <a:srgbClr val="5A675F"/>
                </a:solidFill>
                <a:latin typeface="Outfit"/>
                <a:ea typeface="Outfit"/>
                <a:cs typeface="Outfit"/>
              </a:rPr>
              <a:t>3  After retention</a:t>
            </a:r>
          </a:p>
        </p:txBody>
      </p:sp>
      <p:sp>
        <p:nvSpPr>
          <p:cNvPr id="15" name="TextBox 14"/>
          <p:cNvSpPr txBox="1"/>
          <p:nvPr/>
        </p:nvSpPr>
        <p:spPr>
          <a:xfrm>
            <a:off x="6537960" y="2514600"/>
            <a:ext cx="2377440" cy="502920"/>
          </a:xfrm>
          <a:prstGeom prst="rect">
            <a:avLst/>
          </a:prstGeom>
          <a:noFill/>
        </p:spPr>
        <p:txBody>
          <a:bodyPr wrap="square" anchor="t">
            <a:spAutoFit/>
          </a:bodyPr>
          <a:lstStyle/>
          <a:p>
            <a:pPr algn="l"/>
            <a:r>
              <a:rPr sz="1800" b="1">
                <a:solidFill>
                  <a:srgbClr val="2F5446"/>
                </a:solidFill>
                <a:latin typeface="Fraunces"/>
                <a:ea typeface="Fraunces"/>
                <a:cs typeface="Fraunces"/>
              </a:rPr>
              <a:t>Institutional</a:t>
            </a:r>
          </a:p>
        </p:txBody>
      </p:sp>
      <p:sp>
        <p:nvSpPr>
          <p:cNvPr id="16" name="TextBox 15"/>
          <p:cNvSpPr txBox="1"/>
          <p:nvPr/>
        </p:nvSpPr>
        <p:spPr>
          <a:xfrm>
            <a:off x="6537960" y="3154680"/>
            <a:ext cx="2377440" cy="731520"/>
          </a:xfrm>
          <a:prstGeom prst="rect">
            <a:avLst/>
          </a:prstGeom>
          <a:noFill/>
        </p:spPr>
        <p:txBody>
          <a:bodyPr wrap="square" anchor="t">
            <a:spAutoFit/>
          </a:bodyPr>
          <a:lstStyle/>
          <a:p>
            <a:pPr algn="l"/>
            <a:r>
              <a:rPr sz="1300" b="0">
                <a:solidFill>
                  <a:srgbClr val="5A675F"/>
                </a:solidFill>
                <a:latin typeface="Outfit"/>
                <a:ea typeface="Outfit"/>
                <a:cs typeface="Outfit"/>
              </a:rPr>
              <a:t>Employer, NGO, CSR pilots</a:t>
            </a:r>
          </a:p>
        </p:txBody>
      </p:sp>
      <p:sp>
        <p:nvSpPr>
          <p:cNvPr id="17" name="Rectangle 16"/>
          <p:cNvSpPr/>
          <p:nvPr/>
        </p:nvSpPr>
        <p:spPr>
          <a:xfrm>
            <a:off x="9235440" y="2011680"/>
            <a:ext cx="2743200" cy="2148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0" y="2148840"/>
            <a:ext cx="2377440" cy="320040"/>
          </a:xfrm>
          <a:prstGeom prst="rect">
            <a:avLst/>
          </a:prstGeom>
          <a:noFill/>
        </p:spPr>
        <p:txBody>
          <a:bodyPr wrap="square" anchor="t">
            <a:spAutoFit/>
          </a:bodyPr>
          <a:lstStyle/>
          <a:p>
            <a:pPr algn="l"/>
            <a:r>
              <a:rPr sz="1200" b="1">
                <a:solidFill>
                  <a:srgbClr val="5A675F"/>
                </a:solidFill>
                <a:latin typeface="Outfit"/>
                <a:ea typeface="Outfit"/>
                <a:cs typeface="Outfit"/>
              </a:rPr>
              <a:t>4  Longer-term</a:t>
            </a:r>
          </a:p>
        </p:txBody>
      </p:sp>
      <p:sp>
        <p:nvSpPr>
          <p:cNvPr id="19" name="TextBox 18"/>
          <p:cNvSpPr txBox="1"/>
          <p:nvPr/>
        </p:nvSpPr>
        <p:spPr>
          <a:xfrm>
            <a:off x="9418320" y="2514600"/>
            <a:ext cx="2377440" cy="502920"/>
          </a:xfrm>
          <a:prstGeom prst="rect">
            <a:avLst/>
          </a:prstGeom>
          <a:noFill/>
        </p:spPr>
        <p:txBody>
          <a:bodyPr wrap="square" anchor="t">
            <a:spAutoFit/>
          </a:bodyPr>
          <a:lstStyle/>
          <a:p>
            <a:pPr algn="l"/>
            <a:r>
              <a:rPr sz="1800" b="1">
                <a:solidFill>
                  <a:srgbClr val="2F5446"/>
                </a:solidFill>
                <a:latin typeface="Fraunces"/>
                <a:ea typeface="Fraunces"/>
                <a:cs typeface="Fraunces"/>
              </a:rPr>
              <a:t>SDK / platform</a:t>
            </a:r>
          </a:p>
        </p:txBody>
      </p:sp>
      <p:sp>
        <p:nvSpPr>
          <p:cNvPr id="20" name="TextBox 19"/>
          <p:cNvSpPr txBox="1"/>
          <p:nvPr/>
        </p:nvSpPr>
        <p:spPr>
          <a:xfrm>
            <a:off x="9418320" y="3154680"/>
            <a:ext cx="2377440" cy="731520"/>
          </a:xfrm>
          <a:prstGeom prst="rect">
            <a:avLst/>
          </a:prstGeom>
          <a:noFill/>
        </p:spPr>
        <p:txBody>
          <a:bodyPr wrap="square" anchor="t">
            <a:spAutoFit/>
          </a:bodyPr>
          <a:lstStyle/>
          <a:p>
            <a:pPr algn="l"/>
            <a:r>
              <a:rPr sz="1300" b="0">
                <a:solidFill>
                  <a:srgbClr val="5A675F"/>
                </a:solidFill>
                <a:latin typeface="Outfit"/>
                <a:ea typeface="Outfit"/>
                <a:cs typeface="Outfit"/>
              </a:rPr>
              <a:t>License the privacy-first engine</a:t>
            </a:r>
          </a:p>
        </p:txBody>
      </p:sp>
      <p:sp>
        <p:nvSpPr>
          <p:cNvPr id="21" name="TextBox 20"/>
          <p:cNvSpPr txBox="1"/>
          <p:nvPr/>
        </p:nvSpPr>
        <p:spPr>
          <a:xfrm>
            <a:off x="594360" y="4389120"/>
            <a:ext cx="6858000" cy="1554480"/>
          </a:xfrm>
          <a:prstGeom prst="rect">
            <a:avLst/>
          </a:prstGeom>
          <a:noFill/>
        </p:spPr>
        <p:txBody>
          <a:bodyPr wrap="square" anchor="t">
            <a:spAutoFit/>
          </a:bodyPr>
          <a:lstStyle/>
          <a:p>
            <a:pPr algn="l"/>
            <a:r>
              <a:rPr sz="1300" b="0">
                <a:solidFill>
                  <a:srgbClr val="1C2420"/>
                </a:solidFill>
                <a:latin typeface="Outfit"/>
                <a:ea typeface="Outfit"/>
                <a:cs typeface="Outfit"/>
              </a:rPr>
              <a:t>Free core includes: basic CBT-informed exercises · mood check-ins · thought records · journaling · breathing and grounding · basic daily plan · crisis resources · local export and delete.
Future Oppuna Plus: stronger on-device models · natural low-latency voice · advanced personalised CBT-informed journeys · deeper insights · longitudinal summaries · user-controlled encrypted backup and migration.</a:t>
            </a:r>
          </a:p>
        </p:txBody>
      </p:sp>
      <p:sp>
        <p:nvSpPr>
          <p:cNvPr id="22" name="Rectangle 21"/>
          <p:cNvSpPr/>
          <p:nvPr/>
        </p:nvSpPr>
        <p:spPr>
          <a:xfrm>
            <a:off x="7680960" y="4389120"/>
            <a:ext cx="3886200" cy="15544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9560" y="4572000"/>
            <a:ext cx="3520440" cy="320040"/>
          </a:xfrm>
          <a:prstGeom prst="rect">
            <a:avLst/>
          </a:prstGeom>
          <a:noFill/>
        </p:spPr>
        <p:txBody>
          <a:bodyPr wrap="square" anchor="t">
            <a:spAutoFit/>
          </a:bodyPr>
          <a:lstStyle/>
          <a:p>
            <a:pPr algn="l"/>
            <a:r>
              <a:rPr sz="1300" b="1">
                <a:solidFill>
                  <a:srgbClr val="3D6B5A"/>
                </a:solidFill>
                <a:latin typeface="Outfit"/>
                <a:ea typeface="Outfit"/>
                <a:cs typeface="Outfit"/>
              </a:rPr>
              <a:t>Pricing hypothesis</a:t>
            </a:r>
          </a:p>
        </p:txBody>
      </p:sp>
      <p:sp>
        <p:nvSpPr>
          <p:cNvPr id="24" name="TextBox 23"/>
          <p:cNvSpPr txBox="1"/>
          <p:nvPr/>
        </p:nvSpPr>
        <p:spPr>
          <a:xfrm>
            <a:off x="7909560" y="4892040"/>
            <a:ext cx="3520440" cy="411480"/>
          </a:xfrm>
          <a:prstGeom prst="rect">
            <a:avLst/>
          </a:prstGeom>
          <a:noFill/>
        </p:spPr>
        <p:txBody>
          <a:bodyPr wrap="square" anchor="t">
            <a:spAutoFit/>
          </a:bodyPr>
          <a:lstStyle/>
          <a:p>
            <a:pPr algn="l"/>
            <a:r>
              <a:rPr sz="2200" b="1">
                <a:solidFill>
                  <a:srgbClr val="2F5446"/>
                </a:solidFill>
                <a:latin typeface="Fraunces"/>
                <a:ea typeface="Fraunces"/>
                <a:cs typeface="Fraunces"/>
              </a:rPr>
              <a:t>₹99–₹199 / month</a:t>
            </a:r>
          </a:p>
        </p:txBody>
      </p:sp>
      <p:sp>
        <p:nvSpPr>
          <p:cNvPr id="25" name="TextBox 24"/>
          <p:cNvSpPr txBox="1"/>
          <p:nvPr/>
        </p:nvSpPr>
        <p:spPr>
          <a:xfrm>
            <a:off x="7909560" y="5394960"/>
            <a:ext cx="3520440" cy="365760"/>
          </a:xfrm>
          <a:prstGeom prst="rect">
            <a:avLst/>
          </a:prstGeom>
          <a:noFill/>
        </p:spPr>
        <p:txBody>
          <a:bodyPr wrap="square" anchor="t">
            <a:spAutoFit/>
          </a:bodyPr>
          <a:lstStyle/>
          <a:p>
            <a:pPr algn="l"/>
            <a:r>
              <a:rPr sz="1200" b="0">
                <a:solidFill>
                  <a:srgbClr val="5A675F"/>
                </a:solidFill>
                <a:latin typeface="Outfit"/>
                <a:ea typeface="Outfit"/>
                <a:cs typeface="Outfit"/>
              </a:rPr>
              <a:t>Not final pricing · no ads · no data sale · no per-message fees</a:t>
            </a:r>
          </a:p>
        </p:txBody>
      </p:sp>
      <p:sp>
        <p:nvSpPr>
          <p:cNvPr id="26" name="TextBox 25"/>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27" name="TextBox 26"/>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Trust-led distribution begins with focused, measurable channels.</a:t>
            </a:r>
          </a:p>
        </p:txBody>
      </p:sp>
      <p:sp>
        <p:nvSpPr>
          <p:cNvPr id="4" name="Rectangle 3"/>
          <p:cNvSpPr/>
          <p:nvPr/>
        </p:nvSpPr>
        <p:spPr>
          <a:xfrm>
            <a:off x="594360" y="1417320"/>
            <a:ext cx="6858000" cy="42062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6400800" cy="365760"/>
          </a:xfrm>
          <a:prstGeom prst="rect">
            <a:avLst/>
          </a:prstGeom>
          <a:noFill/>
        </p:spPr>
        <p:txBody>
          <a:bodyPr wrap="square" anchor="t">
            <a:spAutoFit/>
          </a:bodyPr>
          <a:lstStyle/>
          <a:p>
            <a:pPr algn="l"/>
            <a:r>
              <a:rPr sz="2000" b="1">
                <a:solidFill>
                  <a:srgbClr val="2F5446"/>
                </a:solidFill>
                <a:latin typeface="Fraunces"/>
                <a:ea typeface="Fraunces"/>
                <a:cs typeface="Fraunces"/>
              </a:rPr>
              <a:t>Phase 1 — Validation</a:t>
            </a:r>
          </a:p>
        </p:txBody>
      </p:sp>
      <p:sp>
        <p:nvSpPr>
          <p:cNvPr id="6" name="TextBox 5"/>
          <p:cNvSpPr txBox="1"/>
          <p:nvPr/>
        </p:nvSpPr>
        <p:spPr>
          <a:xfrm>
            <a:off x="868680" y="2103120"/>
            <a:ext cx="6400800" cy="1463040"/>
          </a:xfrm>
          <a:prstGeom prst="rect">
            <a:avLst/>
          </a:prstGeom>
          <a:noFill/>
        </p:spPr>
        <p:txBody>
          <a:bodyPr wrap="square">
            <a:spAutoFit/>
          </a:bodyPr>
          <a:lstStyle/>
          <a:p>
            <a:pPr>
              <a:spcAft>
                <a:spcPts val="800"/>
              </a:spcAft>
            </a:pPr>
            <a:r>
              <a:rPr sz="1500" b="0">
                <a:solidFill>
                  <a:srgbClr val="1C2420"/>
                </a:solidFill>
                <a:latin typeface="Outfit"/>
                <a:ea typeface="Outfit"/>
                <a:cs typeface="Outfit"/>
              </a:rPr>
              <a:t>•  Google Play and app-store optimisation</a:t>
            </a:r>
          </a:p>
          <a:p>
            <a:pPr>
              <a:spcAft>
                <a:spcPts val="800"/>
              </a:spcAft>
            </a:pPr>
            <a:r>
              <a:rPr sz="1500" b="0">
                <a:solidFill>
                  <a:srgbClr val="1C2420"/>
                </a:solidFill>
                <a:latin typeface="Outfit"/>
                <a:ea typeface="Outfit"/>
                <a:cs typeface="Outfit"/>
              </a:rPr>
              <a:t>•  Founder-led community adoption</a:t>
            </a:r>
          </a:p>
          <a:p>
            <a:pPr>
              <a:spcAft>
                <a:spcPts val="800"/>
              </a:spcAft>
            </a:pPr>
            <a:r>
              <a:rPr sz="1500" b="0">
                <a:solidFill>
                  <a:srgbClr val="1C2420"/>
                </a:solidFill>
                <a:latin typeface="Outfit"/>
                <a:ea typeface="Outfit"/>
                <a:cs typeface="Outfit"/>
              </a:rPr>
              <a:t>•  Privacy, CBT self-help and regional-language educational content</a:t>
            </a:r>
          </a:p>
          <a:p>
            <a:pPr>
              <a:spcAft>
                <a:spcPts val="800"/>
              </a:spcAft>
            </a:pPr>
            <a:r>
              <a:rPr sz="1500" b="0">
                <a:solidFill>
                  <a:srgbClr val="1C2420"/>
                </a:solidFill>
                <a:latin typeface="Outfit"/>
                <a:ea typeface="Outfit"/>
                <a:cs typeface="Outfit"/>
              </a:rPr>
              <a:t>•  User referrals</a:t>
            </a:r>
          </a:p>
        </p:txBody>
      </p:sp>
      <p:sp>
        <p:nvSpPr>
          <p:cNvPr id="7" name="TextBox 6"/>
          <p:cNvSpPr txBox="1"/>
          <p:nvPr/>
        </p:nvSpPr>
        <p:spPr>
          <a:xfrm>
            <a:off x="868680" y="3749039"/>
            <a:ext cx="6400800" cy="365760"/>
          </a:xfrm>
          <a:prstGeom prst="rect">
            <a:avLst/>
          </a:prstGeom>
          <a:noFill/>
        </p:spPr>
        <p:txBody>
          <a:bodyPr wrap="square" anchor="t">
            <a:spAutoFit/>
          </a:bodyPr>
          <a:lstStyle/>
          <a:p>
            <a:pPr algn="l"/>
            <a:r>
              <a:rPr sz="1800" b="1">
                <a:solidFill>
                  <a:srgbClr val="2F5446"/>
                </a:solidFill>
                <a:latin typeface="Fraunces"/>
                <a:ea typeface="Fraunces"/>
                <a:cs typeface="Fraunces"/>
              </a:rPr>
              <a:t>Phase 2 — After retention is established</a:t>
            </a:r>
          </a:p>
        </p:txBody>
      </p:sp>
      <p:sp>
        <p:nvSpPr>
          <p:cNvPr id="8" name="TextBox 7"/>
          <p:cNvSpPr txBox="1"/>
          <p:nvPr/>
        </p:nvSpPr>
        <p:spPr>
          <a:xfrm>
            <a:off x="868680" y="4206240"/>
            <a:ext cx="6400800" cy="1188720"/>
          </a:xfrm>
          <a:prstGeom prst="rect">
            <a:avLst/>
          </a:prstGeom>
          <a:noFill/>
        </p:spPr>
        <p:txBody>
          <a:bodyPr wrap="square">
            <a:spAutoFit/>
          </a:bodyPr>
          <a:lstStyle/>
          <a:p>
            <a:pPr>
              <a:spcAft>
                <a:spcPts val="800"/>
              </a:spcAft>
            </a:pPr>
            <a:r>
              <a:rPr sz="1500" b="0">
                <a:solidFill>
                  <a:srgbClr val="1C2420"/>
                </a:solidFill>
                <a:latin typeface="Outfit"/>
                <a:ea typeface="Outfit"/>
                <a:cs typeface="Outfit"/>
              </a:rPr>
              <a:t>•  NGO and community partnerships</a:t>
            </a:r>
          </a:p>
          <a:p>
            <a:pPr>
              <a:spcAft>
                <a:spcPts val="800"/>
              </a:spcAft>
            </a:pPr>
            <a:r>
              <a:rPr sz="1500" b="0">
                <a:solidFill>
                  <a:srgbClr val="1C2420"/>
                </a:solidFill>
                <a:latin typeface="Outfit"/>
                <a:ea typeface="Outfit"/>
                <a:cs typeface="Outfit"/>
              </a:rPr>
              <a:t>•  Employer or CSR-sponsored pilots</a:t>
            </a:r>
          </a:p>
          <a:p>
            <a:pPr>
              <a:spcAft>
                <a:spcPts val="800"/>
              </a:spcAft>
            </a:pPr>
            <a:r>
              <a:rPr sz="1500" b="0">
                <a:solidFill>
                  <a:srgbClr val="1C2420"/>
                </a:solidFill>
                <a:latin typeface="Outfit"/>
                <a:ea typeface="Outfit"/>
                <a:cs typeface="Outfit"/>
              </a:rPr>
              <a:t>•  Selected public-wellness programs</a:t>
            </a:r>
          </a:p>
        </p:txBody>
      </p:sp>
      <p:sp>
        <p:nvSpPr>
          <p:cNvPr id="9" name="Rectangle 8"/>
          <p:cNvSpPr/>
          <p:nvPr/>
        </p:nvSpPr>
        <p:spPr>
          <a:xfrm>
            <a:off x="7772400" y="1417320"/>
            <a:ext cx="3794760" cy="4206240"/>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920240"/>
            <a:ext cx="3291840" cy="365760"/>
          </a:xfrm>
          <a:prstGeom prst="rect">
            <a:avLst/>
          </a:prstGeom>
          <a:noFill/>
        </p:spPr>
        <p:txBody>
          <a:bodyPr wrap="square" anchor="t">
            <a:spAutoFit/>
          </a:bodyPr>
          <a:lstStyle/>
          <a:p>
            <a:pPr algn="ctr"/>
            <a:r>
              <a:rPr sz="1400" b="0">
                <a:solidFill>
                  <a:srgbClr val="DCE8E2"/>
                </a:solidFill>
                <a:latin typeface="Outfit"/>
                <a:ea typeface="Outfit"/>
                <a:cs typeface="Outfit"/>
              </a:rPr>
              <a:t>Early checkpoint</a:t>
            </a:r>
          </a:p>
        </p:txBody>
      </p:sp>
      <p:sp>
        <p:nvSpPr>
          <p:cNvPr id="11" name="TextBox 10"/>
          <p:cNvSpPr txBox="1"/>
          <p:nvPr/>
        </p:nvSpPr>
        <p:spPr>
          <a:xfrm>
            <a:off x="8046720" y="2468880"/>
            <a:ext cx="3291840" cy="822960"/>
          </a:xfrm>
          <a:prstGeom prst="rect">
            <a:avLst/>
          </a:prstGeom>
          <a:noFill/>
        </p:spPr>
        <p:txBody>
          <a:bodyPr wrap="square" anchor="t">
            <a:spAutoFit/>
          </a:bodyPr>
          <a:lstStyle/>
          <a:p>
            <a:pPr algn="ctr"/>
            <a:r>
              <a:rPr sz="4800" b="1">
                <a:solidFill>
                  <a:srgbClr val="FFFFFF"/>
                </a:solidFill>
                <a:latin typeface="Fraunces"/>
                <a:ea typeface="Fraunces"/>
                <a:cs typeface="Fraunces"/>
              </a:rPr>
              <a:t>1,000</a:t>
            </a:r>
          </a:p>
        </p:txBody>
      </p:sp>
      <p:sp>
        <p:nvSpPr>
          <p:cNvPr id="12" name="TextBox 11"/>
          <p:cNvSpPr txBox="1"/>
          <p:nvPr/>
        </p:nvSpPr>
        <p:spPr>
          <a:xfrm>
            <a:off x="8046720" y="3383280"/>
            <a:ext cx="3291840" cy="1463040"/>
          </a:xfrm>
          <a:prstGeom prst="rect">
            <a:avLst/>
          </a:prstGeom>
          <a:noFill/>
        </p:spPr>
        <p:txBody>
          <a:bodyPr wrap="square" anchor="t">
            <a:spAutoFit/>
          </a:bodyPr>
          <a:lstStyle/>
          <a:p>
            <a:pPr algn="ctr"/>
            <a:r>
              <a:rPr sz="1500" b="0">
                <a:solidFill>
                  <a:srgbClr val="FFFFFF"/>
                </a:solidFill>
                <a:latin typeface="Outfit"/>
                <a:ea typeface="Outfit"/>
                <a:cs typeface="Outfit"/>
              </a:rPr>
              <a:t>active users as an early validation step—not the final milestone of the ₹1 crore round.</a:t>
            </a:r>
          </a:p>
        </p:txBody>
      </p:sp>
      <p:sp>
        <p:nvSpPr>
          <p:cNvPr id="13" name="TextBox 12"/>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4" name="TextBox 13"/>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Oppuna competes through architecture and structured engagement.</a:t>
            </a:r>
          </a:p>
        </p:txBody>
      </p:sp>
      <p:sp>
        <p:nvSpPr>
          <p:cNvPr id="4" name="Rectangle 3"/>
          <p:cNvSpPr/>
          <p:nvPr/>
        </p:nvSpPr>
        <p:spPr>
          <a:xfrm>
            <a:off x="502920" y="1325880"/>
            <a:ext cx="283464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89888"/>
            <a:ext cx="2743200" cy="274320"/>
          </a:xfrm>
          <a:prstGeom prst="rect">
            <a:avLst/>
          </a:prstGeom>
          <a:noFill/>
        </p:spPr>
        <p:txBody>
          <a:bodyPr wrap="square" anchor="t">
            <a:spAutoFit/>
          </a:bodyPr>
          <a:lstStyle/>
          <a:p>
            <a:pPr algn="ctr"/>
            <a:r>
              <a:rPr sz="1200" b="1">
                <a:solidFill>
                  <a:srgbClr val="FFFFFF"/>
                </a:solidFill>
                <a:latin typeface="Outfit"/>
                <a:ea typeface="Outfit"/>
                <a:cs typeface="Outfit"/>
              </a:rPr>
              <a:t>Dimension</a:t>
            </a:r>
          </a:p>
        </p:txBody>
      </p:sp>
      <p:sp>
        <p:nvSpPr>
          <p:cNvPr id="6" name="Rectangle 5"/>
          <p:cNvSpPr/>
          <p:nvPr/>
        </p:nvSpPr>
        <p:spPr>
          <a:xfrm>
            <a:off x="3337560" y="1325880"/>
            <a:ext cx="265176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1389888"/>
            <a:ext cx="2560320" cy="274320"/>
          </a:xfrm>
          <a:prstGeom prst="rect">
            <a:avLst/>
          </a:prstGeom>
          <a:noFill/>
        </p:spPr>
        <p:txBody>
          <a:bodyPr wrap="square" anchor="t">
            <a:spAutoFit/>
          </a:bodyPr>
          <a:lstStyle/>
          <a:p>
            <a:pPr algn="ctr"/>
            <a:r>
              <a:rPr sz="1200" b="1">
                <a:solidFill>
                  <a:srgbClr val="FFFFFF"/>
                </a:solidFill>
                <a:latin typeface="Outfit"/>
                <a:ea typeface="Outfit"/>
                <a:cs typeface="Outfit"/>
              </a:rPr>
              <a:t>Oppuna</a:t>
            </a:r>
          </a:p>
        </p:txBody>
      </p:sp>
      <p:sp>
        <p:nvSpPr>
          <p:cNvPr id="8" name="Rectangle 7"/>
          <p:cNvSpPr/>
          <p:nvPr/>
        </p:nvSpPr>
        <p:spPr>
          <a:xfrm>
            <a:off x="5989320" y="1325880"/>
            <a:ext cx="283464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1389888"/>
            <a:ext cx="2743200" cy="274320"/>
          </a:xfrm>
          <a:prstGeom prst="rect">
            <a:avLst/>
          </a:prstGeom>
          <a:noFill/>
        </p:spPr>
        <p:txBody>
          <a:bodyPr wrap="square" anchor="t">
            <a:spAutoFit/>
          </a:bodyPr>
          <a:lstStyle/>
          <a:p>
            <a:pPr algn="ctr"/>
            <a:r>
              <a:rPr sz="1200" b="1">
                <a:solidFill>
                  <a:srgbClr val="FFFFFF"/>
                </a:solidFill>
                <a:latin typeface="Outfit"/>
                <a:ea typeface="Outfit"/>
                <a:cs typeface="Outfit"/>
              </a:rPr>
              <a:t>Wysa</a:t>
            </a:r>
          </a:p>
        </p:txBody>
      </p:sp>
      <p:sp>
        <p:nvSpPr>
          <p:cNvPr id="10" name="Rectangle 9"/>
          <p:cNvSpPr/>
          <p:nvPr/>
        </p:nvSpPr>
        <p:spPr>
          <a:xfrm>
            <a:off x="8823960" y="1325880"/>
            <a:ext cx="283464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0" y="1389888"/>
            <a:ext cx="2743200" cy="274320"/>
          </a:xfrm>
          <a:prstGeom prst="rect">
            <a:avLst/>
          </a:prstGeom>
          <a:noFill/>
        </p:spPr>
        <p:txBody>
          <a:bodyPr wrap="square" anchor="t">
            <a:spAutoFit/>
          </a:bodyPr>
          <a:lstStyle/>
          <a:p>
            <a:pPr algn="ctr"/>
            <a:r>
              <a:rPr sz="1200" b="1">
                <a:solidFill>
                  <a:srgbClr val="FFFFFF"/>
                </a:solidFill>
                <a:latin typeface="Outfit"/>
                <a:ea typeface="Outfit"/>
                <a:cs typeface="Outfit"/>
              </a:rPr>
              <a:t>Calm / Headspace</a:t>
            </a:r>
          </a:p>
        </p:txBody>
      </p:sp>
      <p:sp>
        <p:nvSpPr>
          <p:cNvPr id="12" name="Rectangle 11"/>
          <p:cNvSpPr/>
          <p:nvPr/>
        </p:nvSpPr>
        <p:spPr>
          <a:xfrm>
            <a:off x="502920" y="1691640"/>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 y="1737360"/>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Where content is processed</a:t>
            </a:r>
          </a:p>
        </p:txBody>
      </p:sp>
      <p:sp>
        <p:nvSpPr>
          <p:cNvPr id="14" name="Rectangle 13"/>
          <p:cNvSpPr/>
          <p:nvPr/>
        </p:nvSpPr>
        <p:spPr>
          <a:xfrm>
            <a:off x="3337560" y="1691640"/>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92424" y="1737360"/>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On device</a:t>
            </a:r>
          </a:p>
        </p:txBody>
      </p:sp>
      <p:sp>
        <p:nvSpPr>
          <p:cNvPr id="16" name="Rectangle 15"/>
          <p:cNvSpPr/>
          <p:nvPr/>
        </p:nvSpPr>
        <p:spPr>
          <a:xfrm>
            <a:off x="5989320" y="1691640"/>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4" y="173736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Cloud / AWS servers</a:t>
            </a:r>
          </a:p>
        </p:txBody>
      </p:sp>
      <p:sp>
        <p:nvSpPr>
          <p:cNvPr id="18" name="Rectangle 17"/>
          <p:cNvSpPr/>
          <p:nvPr/>
        </p:nvSpPr>
        <p:spPr>
          <a:xfrm>
            <a:off x="8823960" y="1691640"/>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78824" y="173736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Cloud + content CDN</a:t>
            </a:r>
          </a:p>
        </p:txBody>
      </p:sp>
      <p:sp>
        <p:nvSpPr>
          <p:cNvPr id="20" name="Rectangle 19"/>
          <p:cNvSpPr/>
          <p:nvPr/>
        </p:nvSpPr>
        <p:spPr>
          <a:xfrm>
            <a:off x="502920" y="2258568"/>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7784" y="2304288"/>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Interactive support offline</a:t>
            </a:r>
          </a:p>
        </p:txBody>
      </p:sp>
      <p:sp>
        <p:nvSpPr>
          <p:cNvPr id="22" name="Rectangle 21"/>
          <p:cNvSpPr/>
          <p:nvPr/>
        </p:nvSpPr>
        <p:spPr>
          <a:xfrm>
            <a:off x="3337560" y="2258568"/>
            <a:ext cx="265176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92424" y="2304288"/>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Yes (core)</a:t>
            </a:r>
          </a:p>
        </p:txBody>
      </p:sp>
      <p:sp>
        <p:nvSpPr>
          <p:cNvPr id="24" name="Rectangle 23"/>
          <p:cNvSpPr/>
          <p:nvPr/>
        </p:nvSpPr>
        <p:spPr>
          <a:xfrm>
            <a:off x="5989320" y="2258568"/>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44184" y="2304288"/>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Requires connectivity</a:t>
            </a:r>
          </a:p>
        </p:txBody>
      </p:sp>
      <p:sp>
        <p:nvSpPr>
          <p:cNvPr id="26" name="Rectangle 25"/>
          <p:cNvSpPr/>
          <p:nvPr/>
        </p:nvSpPr>
        <p:spPr>
          <a:xfrm>
            <a:off x="8823960" y="2258568"/>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78824" y="2304288"/>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Downloaded content may work offline; interactive cloud features do not</a:t>
            </a:r>
          </a:p>
        </p:txBody>
      </p:sp>
      <p:sp>
        <p:nvSpPr>
          <p:cNvPr id="28" name="Rectangle 27"/>
          <p:cNvSpPr/>
          <p:nvPr/>
        </p:nvSpPr>
        <p:spPr>
          <a:xfrm>
            <a:off x="502920" y="2825496"/>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7784" y="2871215"/>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Structured CBT-informed workflows</a:t>
            </a:r>
          </a:p>
        </p:txBody>
      </p:sp>
      <p:sp>
        <p:nvSpPr>
          <p:cNvPr id="30" name="Rectangle 29"/>
          <p:cNvSpPr/>
          <p:nvPr/>
        </p:nvSpPr>
        <p:spPr>
          <a:xfrm>
            <a:off x="3337560" y="2825496"/>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92424" y="2871215"/>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Yes</a:t>
            </a:r>
          </a:p>
        </p:txBody>
      </p:sp>
      <p:sp>
        <p:nvSpPr>
          <p:cNvPr id="32" name="Rectangle 31"/>
          <p:cNvSpPr/>
          <p:nvPr/>
        </p:nvSpPr>
        <p:spPr>
          <a:xfrm>
            <a:off x="5989320" y="2825496"/>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44184" y="2871215"/>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Yes (care library)</a:t>
            </a:r>
          </a:p>
        </p:txBody>
      </p:sp>
      <p:sp>
        <p:nvSpPr>
          <p:cNvPr id="34" name="Rectangle 33"/>
          <p:cNvSpPr/>
          <p:nvPr/>
        </p:nvSpPr>
        <p:spPr>
          <a:xfrm>
            <a:off x="8823960" y="2825496"/>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78824" y="2871215"/>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Mindfulness / sleep content focus</a:t>
            </a:r>
          </a:p>
        </p:txBody>
      </p:sp>
      <p:sp>
        <p:nvSpPr>
          <p:cNvPr id="36" name="Rectangle 35"/>
          <p:cNvSpPr/>
          <p:nvPr/>
        </p:nvSpPr>
        <p:spPr>
          <a:xfrm>
            <a:off x="502920" y="3392424"/>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 y="3438144"/>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Account required</a:t>
            </a:r>
          </a:p>
        </p:txBody>
      </p:sp>
      <p:sp>
        <p:nvSpPr>
          <p:cNvPr id="38" name="Rectangle 37"/>
          <p:cNvSpPr/>
          <p:nvPr/>
        </p:nvSpPr>
        <p:spPr>
          <a:xfrm>
            <a:off x="3337560" y="3392424"/>
            <a:ext cx="265176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92424" y="3438144"/>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No</a:t>
            </a:r>
          </a:p>
        </p:txBody>
      </p:sp>
      <p:sp>
        <p:nvSpPr>
          <p:cNvPr id="40" name="Rectangle 39"/>
          <p:cNvSpPr/>
          <p:nvPr/>
        </p:nvSpPr>
        <p:spPr>
          <a:xfrm>
            <a:off x="5989320" y="3392424"/>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44184" y="3438144"/>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Anonymous options; still server-based</a:t>
            </a:r>
          </a:p>
        </p:txBody>
      </p:sp>
      <p:sp>
        <p:nvSpPr>
          <p:cNvPr id="42" name="Rectangle 41"/>
          <p:cNvSpPr/>
          <p:nvPr/>
        </p:nvSpPr>
        <p:spPr>
          <a:xfrm>
            <a:off x="8823960" y="3392424"/>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78824" y="3438144"/>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Account typical</a:t>
            </a:r>
          </a:p>
        </p:txBody>
      </p:sp>
      <p:sp>
        <p:nvSpPr>
          <p:cNvPr id="44" name="Rectangle 43"/>
          <p:cNvSpPr/>
          <p:nvPr/>
        </p:nvSpPr>
        <p:spPr>
          <a:xfrm>
            <a:off x="502920" y="3959352"/>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57784" y="4005072"/>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Voice + multilingual</a:t>
            </a:r>
          </a:p>
        </p:txBody>
      </p:sp>
      <p:sp>
        <p:nvSpPr>
          <p:cNvPr id="46" name="Rectangle 45"/>
          <p:cNvSpPr/>
          <p:nvPr/>
        </p:nvSpPr>
        <p:spPr>
          <a:xfrm>
            <a:off x="3337560" y="3959352"/>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92424" y="4005072"/>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Voice roadmap; EN · HI · ES</a:t>
            </a:r>
          </a:p>
        </p:txBody>
      </p:sp>
      <p:sp>
        <p:nvSpPr>
          <p:cNvPr id="48" name="Rectangle 47"/>
          <p:cNvSpPr/>
          <p:nvPr/>
        </p:nvSpPr>
        <p:spPr>
          <a:xfrm>
            <a:off x="5989320" y="3959352"/>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44184" y="4005072"/>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Chat-led; multilingual options</a:t>
            </a:r>
          </a:p>
        </p:txBody>
      </p:sp>
      <p:sp>
        <p:nvSpPr>
          <p:cNvPr id="50" name="Rectangle 49"/>
          <p:cNvSpPr/>
          <p:nvPr/>
        </p:nvSpPr>
        <p:spPr>
          <a:xfrm>
            <a:off x="8823960" y="3959352"/>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878824" y="4005072"/>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Content libraries; account ecosystems</a:t>
            </a:r>
          </a:p>
        </p:txBody>
      </p:sp>
      <p:sp>
        <p:nvSpPr>
          <p:cNvPr id="52" name="Rectangle 51"/>
          <p:cNvSpPr/>
          <p:nvPr/>
        </p:nvSpPr>
        <p:spPr>
          <a:xfrm>
            <a:off x="502920" y="4526280"/>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57784" y="4572000"/>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Local data control</a:t>
            </a:r>
          </a:p>
        </p:txBody>
      </p:sp>
      <p:sp>
        <p:nvSpPr>
          <p:cNvPr id="54" name="Rectangle 53"/>
          <p:cNvSpPr/>
          <p:nvPr/>
        </p:nvSpPr>
        <p:spPr>
          <a:xfrm>
            <a:off x="3337560" y="4526280"/>
            <a:ext cx="265176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92424" y="4572000"/>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Local-first</a:t>
            </a:r>
          </a:p>
        </p:txBody>
      </p:sp>
      <p:sp>
        <p:nvSpPr>
          <p:cNvPr id="56" name="Rectangle 55"/>
          <p:cNvSpPr/>
          <p:nvPr/>
        </p:nvSpPr>
        <p:spPr>
          <a:xfrm>
            <a:off x="5989320" y="4526280"/>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044184" y="457200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Server-stored (transit/at-rest encryption)</a:t>
            </a:r>
          </a:p>
        </p:txBody>
      </p:sp>
      <p:sp>
        <p:nvSpPr>
          <p:cNvPr id="58" name="Rectangle 57"/>
          <p:cNvSpPr/>
          <p:nvPr/>
        </p:nvSpPr>
        <p:spPr>
          <a:xfrm>
            <a:off x="8823960" y="4526280"/>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878824" y="457200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Cloud sync / accounts</a:t>
            </a:r>
          </a:p>
        </p:txBody>
      </p:sp>
      <p:sp>
        <p:nvSpPr>
          <p:cNvPr id="60" name="Rectangle 59"/>
          <p:cNvSpPr/>
          <p:nvPr/>
        </p:nvSpPr>
        <p:spPr>
          <a:xfrm>
            <a:off x="502920" y="5093208"/>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57784" y="5138927"/>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Business model</a:t>
            </a:r>
          </a:p>
        </p:txBody>
      </p:sp>
      <p:sp>
        <p:nvSpPr>
          <p:cNvPr id="62" name="Rectangle 61"/>
          <p:cNvSpPr/>
          <p:nvPr/>
        </p:nvSpPr>
        <p:spPr>
          <a:xfrm>
            <a:off x="3337560" y="5093208"/>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92424" y="5138927"/>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Free → Plus → institutional → SDK</a:t>
            </a:r>
          </a:p>
        </p:txBody>
      </p:sp>
      <p:sp>
        <p:nvSpPr>
          <p:cNvPr id="64" name="Rectangle 63"/>
          <p:cNvSpPr/>
          <p:nvPr/>
        </p:nvSpPr>
        <p:spPr>
          <a:xfrm>
            <a:off x="5989320" y="5093208"/>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044184" y="5138927"/>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Consumer + enterprise wellbeing</a:t>
            </a:r>
          </a:p>
        </p:txBody>
      </p:sp>
      <p:sp>
        <p:nvSpPr>
          <p:cNvPr id="66" name="Rectangle 65"/>
          <p:cNvSpPr/>
          <p:nvPr/>
        </p:nvSpPr>
        <p:spPr>
          <a:xfrm>
            <a:off x="8823960" y="5093208"/>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878824" y="5138927"/>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Subscription content platforms</a:t>
            </a:r>
          </a:p>
        </p:txBody>
      </p:sp>
      <p:sp>
        <p:nvSpPr>
          <p:cNvPr id="68" name="TextBox 67"/>
          <p:cNvSpPr txBox="1"/>
          <p:nvPr/>
        </p:nvSpPr>
        <p:spPr>
          <a:xfrm>
            <a:off x="594360" y="5806440"/>
            <a:ext cx="10972800" cy="457200"/>
          </a:xfrm>
          <a:prstGeom prst="rect">
            <a:avLst/>
          </a:prstGeom>
          <a:noFill/>
        </p:spPr>
        <p:txBody>
          <a:bodyPr wrap="square" anchor="t">
            <a:spAutoFit/>
          </a:bodyPr>
          <a:lstStyle/>
          <a:p>
            <a:pPr algn="l"/>
            <a:r>
              <a:rPr sz="1200" b="0">
                <a:solidFill>
                  <a:srgbClr val="5A675F"/>
                </a:solidFill>
                <a:latin typeface="Outfit"/>
                <a:ea typeface="Outfit"/>
                <a:cs typeface="Outfit"/>
              </a:rPr>
              <a:t>Emerging moat: on-device CBT-informed workflow engine · local-model optimisation · safety-aware offline workflows · voice and multilingual UX · privacy-led brand · future embeddable SDK.</a:t>
            </a:r>
          </a:p>
        </p:txBody>
      </p:sp>
      <p:sp>
        <p:nvSpPr>
          <p:cNvPr id="69" name="TextBox 6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70" name="TextBox 6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Built by a founder who takes complex systems to production.</a:t>
            </a:r>
          </a:p>
        </p:txBody>
      </p:sp>
      <p:sp>
        <p:nvSpPr>
          <p:cNvPr id="4" name="Rectangle 3"/>
          <p:cNvSpPr/>
          <p:nvPr/>
        </p:nvSpPr>
        <p:spPr>
          <a:xfrm>
            <a:off x="594360" y="1417320"/>
            <a:ext cx="10972800" cy="4434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417320"/>
            <a:ext cx="146304" cy="4434840"/>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645920"/>
            <a:ext cx="10058400" cy="502920"/>
          </a:xfrm>
          <a:prstGeom prst="rect">
            <a:avLst/>
          </a:prstGeom>
          <a:noFill/>
        </p:spPr>
        <p:txBody>
          <a:bodyPr wrap="square" anchor="t">
            <a:spAutoFit/>
          </a:bodyPr>
          <a:lstStyle/>
          <a:p>
            <a:pPr algn="l"/>
            <a:r>
              <a:rPr sz="3000" b="1">
                <a:solidFill>
                  <a:srgbClr val="2F5446"/>
                </a:solidFill>
                <a:latin typeface="Fraunces"/>
                <a:ea typeface="Fraunces"/>
                <a:cs typeface="Fraunces"/>
              </a:rPr>
              <a:t>Kaushik I B</a:t>
            </a:r>
          </a:p>
        </p:txBody>
      </p:sp>
      <p:sp>
        <p:nvSpPr>
          <p:cNvPr id="7" name="TextBox 6"/>
          <p:cNvSpPr txBox="1"/>
          <p:nvPr/>
        </p:nvSpPr>
        <p:spPr>
          <a:xfrm>
            <a:off x="1005840" y="2194560"/>
            <a:ext cx="10058400" cy="365760"/>
          </a:xfrm>
          <a:prstGeom prst="rect">
            <a:avLst/>
          </a:prstGeom>
          <a:noFill/>
        </p:spPr>
        <p:txBody>
          <a:bodyPr wrap="square" anchor="t">
            <a:spAutoFit/>
          </a:bodyPr>
          <a:lstStyle/>
          <a:p>
            <a:pPr algn="l"/>
            <a:r>
              <a:rPr sz="1800" b="1">
                <a:solidFill>
                  <a:srgbClr val="3D6B5A"/>
                </a:solidFill>
                <a:latin typeface="Outfit"/>
                <a:ea typeface="Outfit"/>
                <a:cs typeface="Outfit"/>
              </a:rPr>
              <a:t>Founder &amp; Product/AI Architect</a:t>
            </a:r>
          </a:p>
        </p:txBody>
      </p:sp>
      <p:sp>
        <p:nvSpPr>
          <p:cNvPr id="8" name="TextBox 7"/>
          <p:cNvSpPr txBox="1"/>
          <p:nvPr/>
        </p:nvSpPr>
        <p:spPr>
          <a:xfrm>
            <a:off x="1005840" y="2743200"/>
            <a:ext cx="10058400" cy="2194560"/>
          </a:xfrm>
          <a:prstGeom prst="rect">
            <a:avLst/>
          </a:prstGeom>
          <a:noFill/>
        </p:spPr>
        <p:txBody>
          <a:bodyPr wrap="square">
            <a:spAutoFit/>
          </a:bodyPr>
          <a:lstStyle/>
          <a:p>
            <a:pPr>
              <a:spcAft>
                <a:spcPts val="800"/>
              </a:spcAft>
            </a:pPr>
            <a:r>
              <a:rPr sz="1600" b="0">
                <a:solidFill>
                  <a:srgbClr val="1C2420"/>
                </a:solidFill>
                <a:latin typeface="Outfit"/>
                <a:ea typeface="Outfit"/>
                <a:cs typeface="Outfit"/>
              </a:rPr>
              <a:t>•  12+ years across software architecture, cloud and AI</a:t>
            </a:r>
          </a:p>
          <a:p>
            <a:pPr>
              <a:spcAft>
                <a:spcPts val="800"/>
              </a:spcAft>
            </a:pPr>
            <a:r>
              <a:rPr sz="1600" b="0">
                <a:solidFill>
                  <a:srgbClr val="1C2420"/>
                </a:solidFill>
                <a:latin typeface="Outfit"/>
                <a:ea typeface="Outfit"/>
                <a:cs typeface="Outfit"/>
              </a:rPr>
              <a:t>•  Enterprise systems across banking, FinTech and AI platforms</a:t>
            </a:r>
          </a:p>
          <a:p>
            <a:pPr>
              <a:spcAft>
                <a:spcPts val="800"/>
              </a:spcAft>
            </a:pPr>
            <a:r>
              <a:rPr sz="1600" b="0">
                <a:solidFill>
                  <a:srgbClr val="1C2420"/>
                </a:solidFill>
                <a:latin typeface="Outfit"/>
                <a:ea typeface="Outfit"/>
                <a:cs typeface="Outfit"/>
              </a:rPr>
              <a:t>•  TOGAF certified; Microsoft Teams ecosystem experience</a:t>
            </a:r>
          </a:p>
          <a:p>
            <a:pPr>
              <a:spcAft>
                <a:spcPts val="800"/>
              </a:spcAft>
            </a:pPr>
            <a:r>
              <a:rPr sz="1600" b="0">
                <a:solidFill>
                  <a:srgbClr val="1C2420"/>
                </a:solidFill>
                <a:latin typeface="Outfit"/>
                <a:ea typeface="Outfit"/>
                <a:cs typeface="Outfit"/>
              </a:rPr>
              <a:t>•  Currently building enterprise AI and agentic systems</a:t>
            </a:r>
          </a:p>
          <a:p>
            <a:pPr>
              <a:spcAft>
                <a:spcPts val="800"/>
              </a:spcAft>
            </a:pPr>
            <a:r>
              <a:rPr sz="1600" b="0">
                <a:solidFill>
                  <a:srgbClr val="1C2420"/>
                </a:solidFill>
                <a:latin typeface="Outfit"/>
                <a:ea typeface="Outfit"/>
                <a:cs typeface="Outfit"/>
              </a:rPr>
              <a:t>•  Built Oppuna end-to-end—from architecture and on-device workflows to Google Play launch</a:t>
            </a:r>
          </a:p>
        </p:txBody>
      </p:sp>
      <p:sp>
        <p:nvSpPr>
          <p:cNvPr id="9" name="TextBox 8"/>
          <p:cNvSpPr txBox="1"/>
          <p:nvPr/>
        </p:nvSpPr>
        <p:spPr>
          <a:xfrm>
            <a:off x="1005840" y="5029200"/>
            <a:ext cx="10058400" cy="548640"/>
          </a:xfrm>
          <a:prstGeom prst="rect">
            <a:avLst/>
          </a:prstGeom>
          <a:noFill/>
        </p:spPr>
        <p:txBody>
          <a:bodyPr wrap="square" anchor="t">
            <a:spAutoFit/>
          </a:bodyPr>
          <a:lstStyle/>
          <a:p>
            <a:pPr algn="l"/>
            <a:r>
              <a:rPr sz="1600" b="1">
                <a:solidFill>
                  <a:srgbClr val="2F5446"/>
                </a:solidFill>
                <a:latin typeface="Fraunces"/>
                <a:ea typeface="Fraunces"/>
                <a:cs typeface="Fraunces"/>
              </a:rPr>
              <a:t>Kaushik combines enterprise architecture experience with the ability to build and ship privacy-sensitive AI products independently.</a:t>
            </a:r>
          </a:p>
        </p:txBody>
      </p:sp>
      <p:sp>
        <p:nvSpPr>
          <p:cNvPr id="10" name="TextBox 9"/>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1" name="TextBox 10"/>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868680"/>
          </a:xfrm>
          <a:prstGeom prst="rect">
            <a:avLst/>
          </a:prstGeom>
          <a:noFill/>
        </p:spPr>
        <p:txBody>
          <a:bodyPr wrap="square" anchor="t">
            <a:spAutoFit/>
          </a:bodyPr>
          <a:lstStyle/>
          <a:p>
            <a:pPr algn="l"/>
            <a:r>
              <a:rPr sz="2600" b="1">
                <a:solidFill>
                  <a:srgbClr val="FFFFFF"/>
                </a:solidFill>
                <a:latin typeface="Fraunces"/>
                <a:ea typeface="Fraunces"/>
                <a:cs typeface="Fraunces"/>
              </a:rPr>
              <a:t>₹1 crore takes Oppuna from early usage to validated, revenue-generating wellness infrastructure.</a:t>
            </a:r>
          </a:p>
        </p:txBody>
      </p:sp>
      <p:sp>
        <p:nvSpPr>
          <p:cNvPr id="4" name="Rectangle 3"/>
          <p:cNvSpPr/>
          <p:nvPr/>
        </p:nvSpPr>
        <p:spPr>
          <a:xfrm>
            <a:off x="594360" y="1280160"/>
            <a:ext cx="5394960" cy="1051560"/>
          </a:xfrm>
          <a:prstGeom prst="rect">
            <a:avLst/>
          </a:prstGeom>
          <a:solidFill>
            <a:srgbClr val="3A5F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4937760" cy="274320"/>
          </a:xfrm>
          <a:prstGeom prst="rect">
            <a:avLst/>
          </a:prstGeom>
          <a:noFill/>
        </p:spPr>
        <p:txBody>
          <a:bodyPr wrap="square" anchor="t">
            <a:spAutoFit/>
          </a:bodyPr>
          <a:lstStyle/>
          <a:p>
            <a:pPr algn="l"/>
            <a:r>
              <a:rPr sz="1300" b="0">
                <a:solidFill>
                  <a:srgbClr val="DCE8E2"/>
                </a:solidFill>
                <a:latin typeface="Outfit"/>
                <a:ea typeface="Outfit"/>
                <a:cs typeface="Outfit"/>
              </a:rPr>
              <a:t>Raising</a:t>
            </a:r>
          </a:p>
        </p:txBody>
      </p:sp>
      <p:sp>
        <p:nvSpPr>
          <p:cNvPr id="6" name="TextBox 5"/>
          <p:cNvSpPr txBox="1"/>
          <p:nvPr/>
        </p:nvSpPr>
        <p:spPr>
          <a:xfrm>
            <a:off x="822960" y="1691640"/>
            <a:ext cx="4937760" cy="411480"/>
          </a:xfrm>
          <a:prstGeom prst="rect">
            <a:avLst/>
          </a:prstGeom>
          <a:noFill/>
        </p:spPr>
        <p:txBody>
          <a:bodyPr wrap="square" anchor="t">
            <a:spAutoFit/>
          </a:bodyPr>
          <a:lstStyle/>
          <a:p>
            <a:pPr algn="l"/>
            <a:r>
              <a:rPr sz="2200" b="1">
                <a:solidFill>
                  <a:srgbClr val="FFFFFF"/>
                </a:solidFill>
                <a:latin typeface="Fraunces"/>
                <a:ea typeface="Fraunces"/>
                <a:cs typeface="Fraunces"/>
              </a:rPr>
              <a:t>₹1 crore pre-seed</a:t>
            </a:r>
          </a:p>
        </p:txBody>
      </p:sp>
      <p:sp>
        <p:nvSpPr>
          <p:cNvPr id="7" name="Rectangle 6"/>
          <p:cNvSpPr/>
          <p:nvPr/>
        </p:nvSpPr>
        <p:spPr>
          <a:xfrm>
            <a:off x="6263640" y="1280160"/>
            <a:ext cx="5303520" cy="1051560"/>
          </a:xfrm>
          <a:prstGeom prst="rect">
            <a:avLst/>
          </a:prstGeom>
          <a:solidFill>
            <a:srgbClr val="3A5F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417320"/>
            <a:ext cx="4937760" cy="274320"/>
          </a:xfrm>
          <a:prstGeom prst="rect">
            <a:avLst/>
          </a:prstGeom>
          <a:noFill/>
        </p:spPr>
        <p:txBody>
          <a:bodyPr wrap="square" anchor="t">
            <a:spAutoFit/>
          </a:bodyPr>
          <a:lstStyle/>
          <a:p>
            <a:pPr algn="l"/>
            <a:r>
              <a:rPr sz="1300" b="0">
                <a:solidFill>
                  <a:srgbClr val="DCE8E2"/>
                </a:solidFill>
                <a:latin typeface="Outfit"/>
                <a:ea typeface="Outfit"/>
                <a:cs typeface="Outfit"/>
              </a:rPr>
              <a:t>Runway</a:t>
            </a:r>
          </a:p>
        </p:txBody>
      </p:sp>
      <p:sp>
        <p:nvSpPr>
          <p:cNvPr id="9" name="TextBox 8"/>
          <p:cNvSpPr txBox="1"/>
          <p:nvPr/>
        </p:nvSpPr>
        <p:spPr>
          <a:xfrm>
            <a:off x="6492240" y="1691640"/>
            <a:ext cx="4937760" cy="411480"/>
          </a:xfrm>
          <a:prstGeom prst="rect">
            <a:avLst/>
          </a:prstGeom>
          <a:noFill/>
        </p:spPr>
        <p:txBody>
          <a:bodyPr wrap="square" anchor="t">
            <a:spAutoFit/>
          </a:bodyPr>
          <a:lstStyle/>
          <a:p>
            <a:pPr algn="l"/>
            <a:r>
              <a:rPr sz="2200" b="1">
                <a:solidFill>
                  <a:srgbClr val="FFFFFF"/>
                </a:solidFill>
                <a:latin typeface="Fraunces"/>
                <a:ea typeface="Fraunces"/>
                <a:cs typeface="Fraunces"/>
              </a:rPr>
              <a:t>18 months</a:t>
            </a:r>
          </a:p>
        </p:txBody>
      </p:sp>
      <p:sp>
        <p:nvSpPr>
          <p:cNvPr id="10" name="TextBox 9"/>
          <p:cNvSpPr txBox="1"/>
          <p:nvPr/>
        </p:nvSpPr>
        <p:spPr>
          <a:xfrm>
            <a:off x="594360" y="2514600"/>
            <a:ext cx="3657600" cy="274320"/>
          </a:xfrm>
          <a:prstGeom prst="rect">
            <a:avLst/>
          </a:prstGeom>
          <a:noFill/>
        </p:spPr>
        <p:txBody>
          <a:bodyPr wrap="square" anchor="t">
            <a:spAutoFit/>
          </a:bodyPr>
          <a:lstStyle/>
          <a:p>
            <a:pPr algn="l"/>
            <a:r>
              <a:rPr sz="1300" b="1">
                <a:solidFill>
                  <a:srgbClr val="DCE8E2"/>
                </a:solidFill>
                <a:latin typeface="Outfit"/>
                <a:ea typeface="Outfit"/>
                <a:cs typeface="Outfit"/>
              </a:rPr>
              <a:t>Product &amp; safety</a:t>
            </a:r>
          </a:p>
        </p:txBody>
      </p:sp>
      <p:sp>
        <p:nvSpPr>
          <p:cNvPr id="11" name="TextBox 10"/>
          <p:cNvSpPr txBox="1"/>
          <p:nvPr/>
        </p:nvSpPr>
        <p:spPr>
          <a:xfrm>
            <a:off x="594360" y="2788920"/>
            <a:ext cx="3657600" cy="1554480"/>
          </a:xfrm>
          <a:prstGeom prst="rect">
            <a:avLst/>
          </a:prstGeom>
          <a:noFill/>
        </p:spPr>
        <p:txBody>
          <a:bodyPr wrap="square">
            <a:spAutoFit/>
          </a:bodyPr>
          <a:lstStyle/>
          <a:p>
            <a:pPr>
              <a:spcAft>
                <a:spcPts val="400"/>
              </a:spcAft>
            </a:pPr>
            <a:r>
              <a:rPr sz="1200" b="0">
                <a:solidFill>
                  <a:srgbClr val="FFFFFF"/>
                </a:solidFill>
                <a:latin typeface="Outfit"/>
                <a:ea typeface="Outfit"/>
                <a:cs typeface="Outfit"/>
              </a:rPr>
              <a:t>•  Professionally reviewed CBT journeys</a:t>
            </a:r>
          </a:p>
          <a:p>
            <a:pPr>
              <a:spcAft>
                <a:spcPts val="400"/>
              </a:spcAft>
            </a:pPr>
            <a:r>
              <a:rPr sz="1200" b="0">
                <a:solidFill>
                  <a:srgbClr val="FFFFFF"/>
                </a:solidFill>
                <a:latin typeface="Outfit"/>
                <a:ea typeface="Outfit"/>
                <a:cs typeface="Outfit"/>
              </a:rPr>
              <a:t>•  On-device AI + multilingual voice upgrade</a:t>
            </a:r>
          </a:p>
          <a:p>
            <a:pPr>
              <a:spcAft>
                <a:spcPts val="400"/>
              </a:spcAft>
            </a:pPr>
            <a:r>
              <a:rPr sz="1200" b="0">
                <a:solidFill>
                  <a:srgbClr val="FFFFFF"/>
                </a:solidFill>
                <a:latin typeface="Outfit"/>
                <a:ea typeface="Outfit"/>
                <a:cs typeface="Outfit"/>
              </a:rPr>
              <a:t>•  Local-data protection &amp; safety testing</a:t>
            </a:r>
          </a:p>
          <a:p>
            <a:pPr>
              <a:spcAft>
                <a:spcPts val="400"/>
              </a:spcAft>
            </a:pPr>
            <a:r>
              <a:rPr sz="1200" b="0">
                <a:solidFill>
                  <a:srgbClr val="FFFFFF"/>
                </a:solidFill>
                <a:latin typeface="Outfit"/>
                <a:ea typeface="Outfit"/>
                <a:cs typeface="Outfit"/>
              </a:rPr>
              <a:t>•  Broader Android device validation</a:t>
            </a:r>
          </a:p>
        </p:txBody>
      </p:sp>
      <p:sp>
        <p:nvSpPr>
          <p:cNvPr id="12" name="TextBox 11"/>
          <p:cNvSpPr txBox="1"/>
          <p:nvPr/>
        </p:nvSpPr>
        <p:spPr>
          <a:xfrm>
            <a:off x="4434840" y="2514600"/>
            <a:ext cx="3657600" cy="274320"/>
          </a:xfrm>
          <a:prstGeom prst="rect">
            <a:avLst/>
          </a:prstGeom>
          <a:noFill/>
        </p:spPr>
        <p:txBody>
          <a:bodyPr wrap="square" anchor="t">
            <a:spAutoFit/>
          </a:bodyPr>
          <a:lstStyle/>
          <a:p>
            <a:pPr algn="l"/>
            <a:r>
              <a:rPr sz="1300" b="1">
                <a:solidFill>
                  <a:srgbClr val="DCE8E2"/>
                </a:solidFill>
                <a:latin typeface="Outfit"/>
                <a:ea typeface="Outfit"/>
                <a:cs typeface="Outfit"/>
              </a:rPr>
              <a:t>Engagement</a:t>
            </a:r>
          </a:p>
        </p:txBody>
      </p:sp>
      <p:sp>
        <p:nvSpPr>
          <p:cNvPr id="13" name="TextBox 12"/>
          <p:cNvSpPr txBox="1"/>
          <p:nvPr/>
        </p:nvSpPr>
        <p:spPr>
          <a:xfrm>
            <a:off x="4434840" y="2788920"/>
            <a:ext cx="3657600" cy="1554480"/>
          </a:xfrm>
          <a:prstGeom prst="rect">
            <a:avLst/>
          </a:prstGeom>
          <a:noFill/>
        </p:spPr>
        <p:txBody>
          <a:bodyPr wrap="square">
            <a:spAutoFit/>
          </a:bodyPr>
          <a:lstStyle/>
          <a:p>
            <a:pPr>
              <a:spcAft>
                <a:spcPts val="400"/>
              </a:spcAft>
            </a:pPr>
            <a:r>
              <a:rPr sz="1200" b="0">
                <a:solidFill>
                  <a:srgbClr val="FFFFFF"/>
                </a:solidFill>
                <a:latin typeface="Outfit"/>
                <a:ea typeface="Outfit"/>
                <a:cs typeface="Outfit"/>
              </a:rPr>
              <a:t>•  5,000 monthly active users</a:t>
            </a:r>
          </a:p>
          <a:p>
            <a:pPr>
              <a:spcAft>
                <a:spcPts val="400"/>
              </a:spcAft>
            </a:pPr>
            <a:r>
              <a:rPr sz="1200" b="0">
                <a:solidFill>
                  <a:srgbClr val="FFFFFF"/>
                </a:solidFill>
                <a:latin typeface="Outfit"/>
                <a:ea typeface="Outfit"/>
                <a:cs typeface="Outfit"/>
              </a:rPr>
              <a:t>•  Defined D30 retention of 25%+</a:t>
            </a:r>
          </a:p>
          <a:p>
            <a:pPr>
              <a:spcAft>
                <a:spcPts val="400"/>
              </a:spcAft>
            </a:pPr>
            <a:r>
              <a:rPr sz="1200" b="0">
                <a:solidFill>
                  <a:srgbClr val="FFFFFF"/>
                </a:solidFill>
                <a:latin typeface="Outfit"/>
                <a:ea typeface="Outfit"/>
                <a:cs typeface="Outfit"/>
              </a:rPr>
              <a:t>•  1,000 users completing ≥4 structured CBT-informed exercises</a:t>
            </a:r>
          </a:p>
        </p:txBody>
      </p:sp>
      <p:sp>
        <p:nvSpPr>
          <p:cNvPr id="14" name="TextBox 13"/>
          <p:cNvSpPr txBox="1"/>
          <p:nvPr/>
        </p:nvSpPr>
        <p:spPr>
          <a:xfrm>
            <a:off x="8229600" y="2514600"/>
            <a:ext cx="3383280" cy="274320"/>
          </a:xfrm>
          <a:prstGeom prst="rect">
            <a:avLst/>
          </a:prstGeom>
          <a:noFill/>
        </p:spPr>
        <p:txBody>
          <a:bodyPr wrap="square" anchor="t">
            <a:spAutoFit/>
          </a:bodyPr>
          <a:lstStyle/>
          <a:p>
            <a:pPr algn="l"/>
            <a:r>
              <a:rPr sz="1300" b="1">
                <a:solidFill>
                  <a:srgbClr val="DCE8E2"/>
                </a:solidFill>
                <a:latin typeface="Outfit"/>
                <a:ea typeface="Outfit"/>
                <a:cs typeface="Outfit"/>
              </a:rPr>
              <a:t>Commercial</a:t>
            </a:r>
          </a:p>
        </p:txBody>
      </p:sp>
      <p:sp>
        <p:nvSpPr>
          <p:cNvPr id="15" name="TextBox 14"/>
          <p:cNvSpPr txBox="1"/>
          <p:nvPr/>
        </p:nvSpPr>
        <p:spPr>
          <a:xfrm>
            <a:off x="8229600" y="2788920"/>
            <a:ext cx="3383280" cy="1371600"/>
          </a:xfrm>
          <a:prstGeom prst="rect">
            <a:avLst/>
          </a:prstGeom>
          <a:noFill/>
        </p:spPr>
        <p:txBody>
          <a:bodyPr wrap="square">
            <a:spAutoFit/>
          </a:bodyPr>
          <a:lstStyle/>
          <a:p>
            <a:pPr>
              <a:spcAft>
                <a:spcPts val="400"/>
              </a:spcAft>
            </a:pPr>
            <a:r>
              <a:rPr sz="1200" b="0">
                <a:solidFill>
                  <a:srgbClr val="FFFFFF"/>
                </a:solidFill>
                <a:latin typeface="Outfit"/>
                <a:ea typeface="Outfit"/>
                <a:cs typeface="Outfit"/>
              </a:rPr>
              <a:t>•  500 Oppuna Plus subscribers or ₹1 lakh MRR</a:t>
            </a:r>
          </a:p>
          <a:p>
            <a:pPr>
              <a:spcAft>
                <a:spcPts val="400"/>
              </a:spcAft>
            </a:pPr>
            <a:r>
              <a:rPr sz="1200" b="0">
                <a:solidFill>
                  <a:srgbClr val="FFFFFF"/>
                </a:solidFill>
                <a:latin typeface="Outfit"/>
                <a:ea typeface="Outfit"/>
                <a:cs typeface="Outfit"/>
              </a:rPr>
              <a:t>•  2–3 paid institutional pilots</a:t>
            </a:r>
          </a:p>
        </p:txBody>
      </p:sp>
      <p:sp>
        <p:nvSpPr>
          <p:cNvPr id="16" name="TextBox 15"/>
          <p:cNvSpPr txBox="1"/>
          <p:nvPr/>
        </p:nvSpPr>
        <p:spPr>
          <a:xfrm>
            <a:off x="594360" y="4297680"/>
            <a:ext cx="10972800" cy="274320"/>
          </a:xfrm>
          <a:prstGeom prst="rect">
            <a:avLst/>
          </a:prstGeom>
          <a:noFill/>
        </p:spPr>
        <p:txBody>
          <a:bodyPr wrap="square" anchor="t">
            <a:spAutoFit/>
          </a:bodyPr>
          <a:lstStyle/>
          <a:p>
            <a:pPr algn="l"/>
            <a:r>
              <a:rPr sz="1300" b="1">
                <a:solidFill>
                  <a:srgbClr val="DCE8E2"/>
                </a:solidFill>
                <a:latin typeface="Outfit"/>
                <a:ea typeface="Outfit"/>
                <a:cs typeface="Outfit"/>
              </a:rPr>
              <a:t>Use of funds</a:t>
            </a:r>
          </a:p>
        </p:txBody>
      </p:sp>
      <p:sp>
        <p:nvSpPr>
          <p:cNvPr id="17" name="TextBox 16"/>
          <p:cNvSpPr txBox="1"/>
          <p:nvPr/>
        </p:nvSpPr>
        <p:spPr>
          <a:xfrm>
            <a:off x="594360" y="4617720"/>
            <a:ext cx="8686800" cy="777240"/>
          </a:xfrm>
          <a:prstGeom prst="rect">
            <a:avLst/>
          </a:prstGeom>
          <a:noFill/>
        </p:spPr>
        <p:txBody>
          <a:bodyPr wrap="square" anchor="t">
            <a:spAutoFit/>
          </a:bodyPr>
          <a:lstStyle/>
          <a:p>
            <a:pPr algn="l"/>
            <a:r>
              <a:rPr sz="1300" b="0">
                <a:solidFill>
                  <a:srgbClr val="FFFFFF"/>
                </a:solidFill>
                <a:latin typeface="Outfit"/>
                <a:ea typeface="Outfit"/>
                <a:cs typeface="Outfit"/>
              </a:rPr>
              <a:t>40% Product, Android and on-device AI engineering · 15% CBT content and professional review · 15% Privacy, safety, security and testing · 20% User research, community distribution and growth · 10% Institutional pilots, legal and operations</a:t>
            </a:r>
          </a:p>
        </p:txBody>
      </p:sp>
      <p:sp>
        <p:nvSpPr>
          <p:cNvPr id="18" name="TextBox 17"/>
          <p:cNvSpPr txBox="1"/>
          <p:nvPr/>
        </p:nvSpPr>
        <p:spPr>
          <a:xfrm>
            <a:off x="594360" y="5394960"/>
            <a:ext cx="8686800" cy="502920"/>
          </a:xfrm>
          <a:prstGeom prst="rect">
            <a:avLst/>
          </a:prstGeom>
          <a:noFill/>
        </p:spPr>
        <p:txBody>
          <a:bodyPr wrap="square" anchor="t">
            <a:spAutoFit/>
          </a:bodyPr>
          <a:lstStyle/>
          <a:p>
            <a:pPr algn="l"/>
            <a:r>
              <a:rPr sz="1400" b="1">
                <a:solidFill>
                  <a:srgbClr val="DCE8E2"/>
                </a:solidFill>
                <a:latin typeface="Fraunces"/>
                <a:ea typeface="Fraunces"/>
                <a:cs typeface="Fraunces"/>
              </a:rPr>
              <a:t>Oppuna is building a future where structured emotional-wellness support does not require surrendering privacy.</a:t>
            </a:r>
          </a:p>
        </p:txBody>
      </p:sp>
      <p:sp>
        <p:nvSpPr>
          <p:cNvPr id="19" name="TextBox 18">
            <a:hlinkClick r:id="rId2"/>
          </p:cNvPr>
          <p:cNvSpPr txBox="1"/>
          <p:nvPr/>
        </p:nvSpPr>
        <p:spPr>
          <a:xfrm>
            <a:off x="594360" y="5989320"/>
            <a:ext cx="3291840" cy="320040"/>
          </a:xfrm>
          <a:prstGeom prst="rect">
            <a:avLst/>
          </a:prstGeom>
          <a:noFill/>
        </p:spPr>
        <p:txBody>
          <a:bodyPr wrap="square" anchor="t">
            <a:spAutoFit/>
          </a:bodyPr>
          <a:lstStyle/>
          <a:p>
            <a:pPr algn="l"/>
            <a:r>
              <a:rPr sz="1300" b="0">
                <a:solidFill>
                  <a:srgbClr val="FFFFFF"/>
                </a:solidFill>
                <a:latin typeface="Outfit"/>
                <a:ea typeface="Outfit"/>
                <a:cs typeface="Outfit"/>
              </a:rPr>
              <a:t>https://oppuna.com</a:t>
            </a:r>
          </a:p>
        </p:txBody>
      </p:sp>
      <p:sp>
        <p:nvSpPr>
          <p:cNvPr id="20" name="TextBox 19">
            <a:hlinkClick r:id="rId3"/>
          </p:cNvPr>
          <p:cNvSpPr txBox="1"/>
          <p:nvPr/>
        </p:nvSpPr>
        <p:spPr>
          <a:xfrm>
            <a:off x="3931920" y="5989320"/>
            <a:ext cx="3291840" cy="320040"/>
          </a:xfrm>
          <a:prstGeom prst="rect">
            <a:avLst/>
          </a:prstGeom>
          <a:noFill/>
        </p:spPr>
        <p:txBody>
          <a:bodyPr wrap="square" anchor="t">
            <a:spAutoFit/>
          </a:bodyPr>
          <a:lstStyle/>
          <a:p>
            <a:pPr algn="l"/>
            <a:r>
              <a:rPr sz="1300" b="0">
                <a:solidFill>
                  <a:srgbClr val="DCE8E2"/>
                </a:solidFill>
                <a:latin typeface="Outfit"/>
                <a:ea typeface="Outfit"/>
                <a:cs typeface="Outfit"/>
              </a:rPr>
              <a:t>support@oppuna.com</a:t>
            </a:r>
          </a:p>
        </p:txBody>
      </p:sp>
      <p:pic>
        <p:nvPicPr>
          <p:cNvPr id="21" name="Picture 20" descr="play-qr.png">
            <a:hlinkClick r:id="rId5"/>
          </p:cNvPr>
          <p:cNvPicPr>
            <a:picLocks noChangeAspect="1"/>
          </p:cNvPicPr>
          <p:nvPr/>
        </p:nvPicPr>
        <p:blipFill>
          <a:blip r:embed="rId4"/>
          <a:stretch>
            <a:fillRect/>
          </a:stretch>
        </p:blipFill>
        <p:spPr>
          <a:xfrm>
            <a:off x="10241280" y="4892040"/>
            <a:ext cx="1325880" cy="1325880"/>
          </a:xfrm>
          <a:prstGeom prst="rect">
            <a:avLst/>
          </a:prstGeom>
        </p:spPr>
      </p:pic>
      <p:sp>
        <p:nvSpPr>
          <p:cNvPr id="22" name="TextBox 21"/>
          <p:cNvSpPr txBox="1"/>
          <p:nvPr/>
        </p:nvSpPr>
        <p:spPr>
          <a:xfrm>
            <a:off x="10104120" y="6263640"/>
            <a:ext cx="1600200" cy="228600"/>
          </a:xfrm>
          <a:prstGeom prst="rect">
            <a:avLst/>
          </a:prstGeom>
          <a:noFill/>
        </p:spPr>
        <p:txBody>
          <a:bodyPr wrap="square" anchor="t">
            <a:spAutoFit/>
          </a:bodyPr>
          <a:lstStyle/>
          <a:p>
            <a:pPr algn="ctr"/>
            <a:r>
              <a:rPr sz="1100" b="0">
                <a:solidFill>
                  <a:srgbClr val="DCE8E2"/>
                </a:solidFill>
                <a:latin typeface="Outfit"/>
                <a:ea typeface="Outfit"/>
                <a:cs typeface="Outfit"/>
              </a:rPr>
              <a:t>Google Play</a:t>
            </a:r>
          </a:p>
        </p:txBody>
      </p:sp>
      <p:sp>
        <p:nvSpPr>
          <p:cNvPr id="23" name="TextBox 22"/>
          <p:cNvSpPr txBox="1"/>
          <p:nvPr/>
        </p:nvSpPr>
        <p:spPr>
          <a:xfrm>
            <a:off x="594360" y="6510528"/>
            <a:ext cx="4572000" cy="256032"/>
          </a:xfrm>
          <a:prstGeom prst="rect">
            <a:avLst/>
          </a:prstGeom>
          <a:noFill/>
        </p:spPr>
        <p:txBody>
          <a:bodyPr wrap="square" anchor="t">
            <a:spAutoFit/>
          </a:bodyPr>
          <a:lstStyle/>
          <a:p>
            <a:pPr algn="l"/>
            <a:r>
              <a:rPr sz="1100" b="0">
                <a:solidFill>
                  <a:srgbClr val="DCE8E2"/>
                </a:solidFill>
                <a:latin typeface="Outfit"/>
                <a:ea typeface="Outfit"/>
                <a:cs typeface="Outfit"/>
              </a:rPr>
              <a:t>Oppuna · Confidential</a:t>
            </a:r>
          </a:p>
        </p:txBody>
      </p:sp>
      <p:sp>
        <p:nvSpPr>
          <p:cNvPr id="24" name="TextBox 23"/>
          <p:cNvSpPr txBox="1"/>
          <p:nvPr/>
        </p:nvSpPr>
        <p:spPr>
          <a:xfrm>
            <a:off x="10424160" y="6510528"/>
            <a:ext cx="1188720" cy="256032"/>
          </a:xfrm>
          <a:prstGeom prst="rect">
            <a:avLst/>
          </a:prstGeom>
          <a:noFill/>
        </p:spPr>
        <p:txBody>
          <a:bodyPr wrap="square" anchor="t">
            <a:spAutoFit/>
          </a:bodyPr>
          <a:lstStyle/>
          <a:p>
            <a:pPr algn="r"/>
            <a:r>
              <a:rPr sz="1100" b="0">
                <a:solidFill>
                  <a:srgbClr val="DCE8E2"/>
                </a:solidFill>
                <a:latin typeface="Outfit"/>
                <a:ea typeface="Outfit"/>
                <a:cs typeface="Outfi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Retention methodology</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1</a:t>
            </a:r>
          </a:p>
        </p:txBody>
      </p:sp>
      <p:sp>
        <p:nvSpPr>
          <p:cNvPr id="5" name="TextBox 4"/>
          <p:cNvSpPr txBox="1"/>
          <p:nvPr/>
        </p:nvSpPr>
        <p:spPr>
          <a:xfrm>
            <a:off x="594360" y="1737360"/>
            <a:ext cx="10972800" cy="4206240"/>
          </a:xfrm>
          <a:prstGeom prst="rect">
            <a:avLst/>
          </a:prstGeom>
          <a:noFill/>
        </p:spPr>
        <p:txBody>
          <a:bodyPr wrap="square">
            <a:spAutoFit/>
          </a:bodyPr>
          <a:lstStyle/>
          <a:p>
            <a:pPr>
              <a:spcAft>
                <a:spcPts val="1000"/>
              </a:spcAft>
            </a:pPr>
            <a:r>
              <a:rPr sz="1600" b="0">
                <a:solidFill>
                  <a:srgbClr val="1C2420"/>
                </a:solidFill>
                <a:latin typeface="Outfit"/>
                <a:ea typeface="Outfit"/>
                <a:cs typeface="Outfit"/>
              </a:rPr>
              <a:t>•  Current claim: approximately 90% of tracked early users returned during the observation period.</a:t>
            </a:r>
          </a:p>
          <a:p>
            <a:pPr>
              <a:spcAft>
                <a:spcPts val="1000"/>
              </a:spcAft>
            </a:pPr>
            <a:r>
              <a:rPr sz="1600" b="0">
                <a:solidFill>
                  <a:srgbClr val="1C2420"/>
                </a:solidFill>
                <a:latin typeface="Outfit"/>
                <a:ea typeface="Outfit"/>
                <a:cs typeface="Outfit"/>
              </a:rPr>
              <a:t>•  Population: approximately 80–100 early users.</a:t>
            </a:r>
          </a:p>
          <a:p>
            <a:pPr>
              <a:spcAft>
                <a:spcPts val="1000"/>
              </a:spcAft>
            </a:pPr>
            <a:r>
              <a:rPr sz="1600" b="0">
                <a:solidFill>
                  <a:srgbClr val="1C2420"/>
                </a:solidFill>
                <a:latin typeface="Outfit"/>
                <a:ea typeface="Outfit"/>
                <a:cs typeface="Outfit"/>
              </a:rPr>
              <a:t>•  Source: founder-reported internal tracking.</a:t>
            </a:r>
          </a:p>
          <a:p>
            <a:pPr>
              <a:spcAft>
                <a:spcPts val="1000"/>
              </a:spcAft>
            </a:pPr>
            <a:r>
              <a:rPr sz="1600" b="0">
                <a:solidFill>
                  <a:srgbClr val="1C2420"/>
                </a:solidFill>
                <a:latin typeface="Outfit"/>
                <a:ea typeface="Outfit"/>
                <a:cs typeface="Outfit"/>
              </a:rPr>
              <a:t>•  Limitation: not yet a frozen D1, D7 or D30 install cohort with a pre-declared return definition.</a:t>
            </a:r>
          </a:p>
          <a:p>
            <a:pPr>
              <a:spcAft>
                <a:spcPts val="1000"/>
              </a:spcAft>
            </a:pPr>
            <a:r>
              <a:rPr sz="1600" b="0">
                <a:solidFill>
                  <a:srgbClr val="1C2420"/>
                </a:solidFill>
                <a:latin typeface="Outfit"/>
                <a:ea typeface="Outfit"/>
                <a:cs typeface="Outfit"/>
              </a:rPr>
              <a:t>•  Prospective framework: cohort start date · observation window · qualifying return event · exclusions · D1/D7/D30 · monthly active users.</a:t>
            </a:r>
          </a:p>
          <a:p>
            <a:pPr>
              <a:spcAft>
                <a:spcPts val="1000"/>
              </a:spcAft>
            </a:pPr>
            <a:r>
              <a:rPr sz="1600" b="0">
                <a:solidFill>
                  <a:srgbClr val="1C2420"/>
                </a:solidFill>
                <a:latin typeface="Outfit"/>
                <a:ea typeface="Outfit"/>
                <a:cs typeface="Outfit"/>
              </a:rPr>
              <a:t>•  Purpose of the upgrade: make retention comparable for diligence and milestone tracking against the 25%+ D30 target.</a:t>
            </a:r>
          </a:p>
        </p:txBody>
      </p:sp>
      <p:sp>
        <p:nvSpPr>
          <p:cNvPr id="6" name="TextBox 5"/>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7" name="TextBox 6"/>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Current architecture and funded improvements</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2</a:t>
            </a:r>
          </a:p>
        </p:txBody>
      </p:sp>
      <p:sp>
        <p:nvSpPr>
          <p:cNvPr id="5" name="Rectangle 4"/>
          <p:cNvSpPr/>
          <p:nvPr/>
        </p:nvSpPr>
        <p:spPr>
          <a:xfrm>
            <a:off x="594360" y="1691640"/>
            <a:ext cx="534924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74519"/>
            <a:ext cx="4846320" cy="365760"/>
          </a:xfrm>
          <a:prstGeom prst="rect">
            <a:avLst/>
          </a:prstGeom>
          <a:noFill/>
        </p:spPr>
        <p:txBody>
          <a:bodyPr wrap="square" anchor="t">
            <a:spAutoFit/>
          </a:bodyPr>
          <a:lstStyle/>
          <a:p>
            <a:pPr algn="l"/>
            <a:r>
              <a:rPr sz="2000" b="1">
                <a:solidFill>
                  <a:srgbClr val="2F5446"/>
                </a:solidFill>
                <a:latin typeface="Fraunces"/>
                <a:ea typeface="Fraunces"/>
                <a:cs typeface="Fraunces"/>
              </a:rPr>
              <a:t>Current product</a:t>
            </a:r>
          </a:p>
        </p:txBody>
      </p:sp>
      <p:sp>
        <p:nvSpPr>
          <p:cNvPr id="7" name="TextBox 6"/>
          <p:cNvSpPr txBox="1"/>
          <p:nvPr/>
        </p:nvSpPr>
        <p:spPr>
          <a:xfrm>
            <a:off x="822960" y="2377440"/>
            <a:ext cx="4846320" cy="3383280"/>
          </a:xfrm>
          <a:prstGeom prst="rect">
            <a:avLst/>
          </a:prstGeom>
          <a:noFill/>
        </p:spPr>
        <p:txBody>
          <a:bodyPr wrap="square">
            <a:spAutoFit/>
          </a:bodyPr>
          <a:lstStyle/>
          <a:p>
            <a:pPr>
              <a:spcAft>
                <a:spcPts val="600"/>
              </a:spcAft>
            </a:pPr>
            <a:r>
              <a:rPr sz="1400" b="0">
                <a:solidFill>
                  <a:srgbClr val="1C2420"/>
                </a:solidFill>
                <a:latin typeface="Outfit"/>
                <a:ea typeface="Outfit"/>
                <a:cs typeface="Outfit"/>
              </a:rPr>
              <a:t>•  Android application</a:t>
            </a:r>
          </a:p>
          <a:p>
            <a:pPr>
              <a:spcAft>
                <a:spcPts val="600"/>
              </a:spcAft>
            </a:pPr>
            <a:r>
              <a:rPr sz="1400" b="0">
                <a:solidFill>
                  <a:srgbClr val="1C2420"/>
                </a:solidFill>
                <a:latin typeface="Outfit"/>
                <a:ea typeface="Outfit"/>
                <a:cs typeface="Outfit"/>
              </a:rPr>
              <a:t>•  Local data storage</a:t>
            </a:r>
          </a:p>
          <a:p>
            <a:pPr>
              <a:spcAft>
                <a:spcPts val="600"/>
              </a:spcAft>
            </a:pPr>
            <a:r>
              <a:rPr sz="1400" b="0">
                <a:solidFill>
                  <a:srgbClr val="1C2420"/>
                </a:solidFill>
                <a:latin typeface="Outfit"/>
                <a:ea typeface="Outfit"/>
                <a:cs typeface="Outfit"/>
              </a:rPr>
              <a:t>•  On-device / offline companion</a:t>
            </a:r>
          </a:p>
          <a:p>
            <a:pPr>
              <a:spcAft>
                <a:spcPts val="600"/>
              </a:spcAft>
            </a:pPr>
            <a:r>
              <a:rPr sz="1400" b="0">
                <a:solidFill>
                  <a:srgbClr val="1C2420"/>
                </a:solidFill>
                <a:latin typeface="Outfit"/>
                <a:ea typeface="Outfit"/>
                <a:cs typeface="Outfit"/>
              </a:rPr>
              <a:t>•  CBT-informed wellness workflows</a:t>
            </a:r>
          </a:p>
          <a:p>
            <a:pPr>
              <a:spcAft>
                <a:spcPts val="600"/>
              </a:spcAft>
            </a:pPr>
            <a:r>
              <a:rPr sz="1400" b="0">
                <a:solidFill>
                  <a:srgbClr val="1C2420"/>
                </a:solidFill>
                <a:latin typeface="Outfit"/>
                <a:ea typeface="Outfit"/>
                <a:cs typeface="Outfit"/>
              </a:rPr>
              <a:t>•  Mood, journal and thought records</a:t>
            </a:r>
          </a:p>
          <a:p>
            <a:pPr>
              <a:spcAft>
                <a:spcPts val="600"/>
              </a:spcAft>
            </a:pPr>
            <a:r>
              <a:rPr sz="1400" b="0">
                <a:solidFill>
                  <a:srgbClr val="1C2420"/>
                </a:solidFill>
                <a:latin typeface="Outfit"/>
                <a:ea typeface="Outfit"/>
                <a:cs typeface="Outfit"/>
              </a:rPr>
              <a:t>•  Local crisis-resource presentation</a:t>
            </a:r>
          </a:p>
          <a:p>
            <a:pPr>
              <a:spcAft>
                <a:spcPts val="600"/>
              </a:spcAft>
            </a:pPr>
            <a:r>
              <a:rPr sz="1400" b="0">
                <a:solidFill>
                  <a:srgbClr val="1C2420"/>
                </a:solidFill>
                <a:latin typeface="Outfit"/>
                <a:ea typeface="Outfit"/>
                <a:cs typeface="Outfit"/>
              </a:rPr>
              <a:t>•  Export / delete controls</a:t>
            </a:r>
          </a:p>
          <a:p>
            <a:pPr>
              <a:spcAft>
                <a:spcPts val="600"/>
              </a:spcAft>
            </a:pPr>
            <a:r>
              <a:rPr sz="1400" b="0">
                <a:solidFill>
                  <a:srgbClr val="1C2420"/>
                </a:solidFill>
                <a:latin typeface="Outfit"/>
                <a:ea typeface="Outfit"/>
                <a:cs typeface="Outfit"/>
              </a:rPr>
              <a:t>•  Offline operation</a:t>
            </a:r>
          </a:p>
          <a:p>
            <a:pPr>
              <a:spcAft>
                <a:spcPts val="600"/>
              </a:spcAft>
            </a:pPr>
            <a:r>
              <a:rPr sz="1400" b="0">
                <a:solidFill>
                  <a:srgbClr val="1C2420"/>
                </a:solidFill>
                <a:latin typeface="Outfit"/>
                <a:ea typeface="Outfit"/>
                <a:cs typeface="Outfit"/>
              </a:rPr>
              <a:t>•  Optional biometric / PIN app lock</a:t>
            </a:r>
          </a:p>
        </p:txBody>
      </p:sp>
      <p:sp>
        <p:nvSpPr>
          <p:cNvPr id="8" name="Rectangle 7"/>
          <p:cNvSpPr/>
          <p:nvPr/>
        </p:nvSpPr>
        <p:spPr>
          <a:xfrm>
            <a:off x="6263640" y="1691640"/>
            <a:ext cx="5303520" cy="42976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874519"/>
            <a:ext cx="4846320" cy="365760"/>
          </a:xfrm>
          <a:prstGeom prst="rect">
            <a:avLst/>
          </a:prstGeom>
          <a:noFill/>
        </p:spPr>
        <p:txBody>
          <a:bodyPr wrap="square" anchor="t">
            <a:spAutoFit/>
          </a:bodyPr>
          <a:lstStyle/>
          <a:p>
            <a:pPr algn="l"/>
            <a:r>
              <a:rPr sz="2000" b="1">
                <a:solidFill>
                  <a:srgbClr val="2F5446"/>
                </a:solidFill>
                <a:latin typeface="Fraunces"/>
                <a:ea typeface="Fraunces"/>
                <a:cs typeface="Fraunces"/>
              </a:rPr>
              <a:t>Funded improvements</a:t>
            </a:r>
          </a:p>
        </p:txBody>
      </p:sp>
      <p:sp>
        <p:nvSpPr>
          <p:cNvPr id="10" name="TextBox 9"/>
          <p:cNvSpPr txBox="1"/>
          <p:nvPr/>
        </p:nvSpPr>
        <p:spPr>
          <a:xfrm>
            <a:off x="6492240" y="2377440"/>
            <a:ext cx="4846320" cy="3383280"/>
          </a:xfrm>
          <a:prstGeom prst="rect">
            <a:avLst/>
          </a:prstGeom>
          <a:noFill/>
        </p:spPr>
        <p:txBody>
          <a:bodyPr wrap="square">
            <a:spAutoFit/>
          </a:bodyPr>
          <a:lstStyle/>
          <a:p>
            <a:pPr>
              <a:spcAft>
                <a:spcPts val="600"/>
              </a:spcAft>
            </a:pPr>
            <a:r>
              <a:rPr sz="1400" b="0">
                <a:solidFill>
                  <a:srgbClr val="1C2420"/>
                </a:solidFill>
                <a:latin typeface="Outfit"/>
                <a:ea typeface="Outfit"/>
                <a:cs typeface="Outfit"/>
              </a:rPr>
              <a:t>•  Stronger on-device models</a:t>
            </a:r>
          </a:p>
          <a:p>
            <a:pPr>
              <a:spcAft>
                <a:spcPts val="600"/>
              </a:spcAft>
            </a:pPr>
            <a:r>
              <a:rPr sz="1400" b="0">
                <a:solidFill>
                  <a:srgbClr val="1C2420"/>
                </a:solidFill>
                <a:latin typeface="Outfit"/>
                <a:ea typeface="Outfit"/>
                <a:cs typeface="Outfit"/>
              </a:rPr>
              <a:t>•  Encryption hardening</a:t>
            </a:r>
          </a:p>
          <a:p>
            <a:pPr>
              <a:spcAft>
                <a:spcPts val="600"/>
              </a:spcAft>
            </a:pPr>
            <a:r>
              <a:rPr sz="1400" b="0">
                <a:solidFill>
                  <a:srgbClr val="1C2420"/>
                </a:solidFill>
                <a:latin typeface="Outfit"/>
                <a:ea typeface="Outfit"/>
                <a:cs typeface="Outfit"/>
              </a:rPr>
              <a:t>•  Biometric / PIN protection hardening</a:t>
            </a:r>
          </a:p>
          <a:p>
            <a:pPr>
              <a:spcAft>
                <a:spcPts val="600"/>
              </a:spcAft>
            </a:pPr>
            <a:r>
              <a:rPr sz="1400" b="0">
                <a:solidFill>
                  <a:srgbClr val="1C2420"/>
                </a:solidFill>
                <a:latin typeface="Outfit"/>
                <a:ea typeface="Outfit"/>
                <a:cs typeface="Outfit"/>
              </a:rPr>
              <a:t>•  Broader device validation</a:t>
            </a:r>
          </a:p>
          <a:p>
            <a:pPr>
              <a:spcAft>
                <a:spcPts val="600"/>
              </a:spcAft>
            </a:pPr>
            <a:r>
              <a:rPr sz="1400" b="0">
                <a:solidFill>
                  <a:srgbClr val="1C2420"/>
                </a:solidFill>
                <a:latin typeface="Outfit"/>
                <a:ea typeface="Outfit"/>
                <a:cs typeface="Outfit"/>
              </a:rPr>
              <a:t>•  Professional CBT-content review</a:t>
            </a:r>
          </a:p>
          <a:p>
            <a:pPr>
              <a:spcAft>
                <a:spcPts val="600"/>
              </a:spcAft>
            </a:pPr>
            <a:r>
              <a:rPr sz="1400" b="0">
                <a:solidFill>
                  <a:srgbClr val="1C2420"/>
                </a:solidFill>
                <a:latin typeface="Outfit"/>
                <a:ea typeface="Outfit"/>
                <a:cs typeface="Outfit"/>
              </a:rPr>
              <a:t>•  Expanded safety testing</a:t>
            </a:r>
          </a:p>
          <a:p>
            <a:pPr>
              <a:spcAft>
                <a:spcPts val="600"/>
              </a:spcAft>
            </a:pPr>
            <a:r>
              <a:rPr sz="1400" b="0">
                <a:solidFill>
                  <a:srgbClr val="1C2420"/>
                </a:solidFill>
                <a:latin typeface="Outfit"/>
                <a:ea typeface="Outfit"/>
                <a:cs typeface="Outfit"/>
              </a:rPr>
              <a:t>•  Multilingual voice improvement</a:t>
            </a:r>
          </a:p>
          <a:p>
            <a:pPr>
              <a:spcAft>
                <a:spcPts val="600"/>
              </a:spcAft>
            </a:pPr>
            <a:r>
              <a:rPr sz="1400" b="0">
                <a:solidFill>
                  <a:srgbClr val="1C2420"/>
                </a:solidFill>
                <a:latin typeface="Outfit"/>
                <a:ea typeface="Outfit"/>
                <a:cs typeface="Outfit"/>
              </a:rPr>
              <a:t>•  User-controlled backup and migration</a:t>
            </a:r>
          </a:p>
        </p:txBody>
      </p:sp>
      <p:sp>
        <p:nvSpPr>
          <p:cNvPr id="11" name="TextBox 10"/>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2" name="TextBox 11"/>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Product and revenue roadmap</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3</a:t>
            </a:r>
          </a:p>
        </p:txBody>
      </p:sp>
      <p:sp>
        <p:nvSpPr>
          <p:cNvPr id="5" name="Rectangle 4"/>
          <p:cNvSpPr/>
          <p:nvPr/>
        </p:nvSpPr>
        <p:spPr>
          <a:xfrm>
            <a:off x="594360" y="1645920"/>
            <a:ext cx="274320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Free core</a:t>
            </a:r>
          </a:p>
        </p:txBody>
      </p:sp>
      <p:sp>
        <p:nvSpPr>
          <p:cNvPr id="7" name="TextBox 6"/>
          <p:cNvSpPr txBox="1"/>
          <p:nvPr/>
        </p:nvSpPr>
        <p:spPr>
          <a:xfrm>
            <a:off x="73152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Shipped now</a:t>
            </a:r>
          </a:p>
        </p:txBody>
      </p:sp>
      <p:sp>
        <p:nvSpPr>
          <p:cNvPr id="8" name="TextBox 7"/>
          <p:cNvSpPr txBox="1"/>
          <p:nvPr/>
        </p:nvSpPr>
        <p:spPr>
          <a:xfrm>
            <a:off x="68580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CBT-informed basics</a:t>
            </a:r>
          </a:p>
          <a:p>
            <a:pPr>
              <a:spcAft>
                <a:spcPts val="500"/>
              </a:spcAft>
            </a:pPr>
            <a:r>
              <a:rPr sz="1200" b="0">
                <a:solidFill>
                  <a:srgbClr val="1C2420"/>
                </a:solidFill>
                <a:latin typeface="Outfit"/>
                <a:ea typeface="Outfit"/>
                <a:cs typeface="Outfit"/>
              </a:rPr>
              <a:t>•  Mood + thought records</a:t>
            </a:r>
          </a:p>
          <a:p>
            <a:pPr>
              <a:spcAft>
                <a:spcPts val="500"/>
              </a:spcAft>
            </a:pPr>
            <a:r>
              <a:rPr sz="1200" b="0">
                <a:solidFill>
                  <a:srgbClr val="1C2420"/>
                </a:solidFill>
                <a:latin typeface="Outfit"/>
                <a:ea typeface="Outfit"/>
                <a:cs typeface="Outfit"/>
              </a:rPr>
              <a:t>•  Journaling</a:t>
            </a:r>
          </a:p>
          <a:p>
            <a:pPr>
              <a:spcAft>
                <a:spcPts val="500"/>
              </a:spcAft>
            </a:pPr>
            <a:r>
              <a:rPr sz="1200" b="0">
                <a:solidFill>
                  <a:srgbClr val="1C2420"/>
                </a:solidFill>
                <a:latin typeface="Outfit"/>
                <a:ea typeface="Outfit"/>
                <a:cs typeface="Outfit"/>
              </a:rPr>
              <a:t>•  Breath / ground / sleep</a:t>
            </a:r>
          </a:p>
          <a:p>
            <a:pPr>
              <a:spcAft>
                <a:spcPts val="500"/>
              </a:spcAft>
            </a:pPr>
            <a:r>
              <a:rPr sz="1200" b="0">
                <a:solidFill>
                  <a:srgbClr val="1C2420"/>
                </a:solidFill>
                <a:latin typeface="Outfit"/>
                <a:ea typeface="Outfit"/>
                <a:cs typeface="Outfit"/>
              </a:rPr>
              <a:t>•  Daily plan</a:t>
            </a:r>
          </a:p>
          <a:p>
            <a:pPr>
              <a:spcAft>
                <a:spcPts val="500"/>
              </a:spcAft>
            </a:pPr>
            <a:r>
              <a:rPr sz="1200" b="0">
                <a:solidFill>
                  <a:srgbClr val="1C2420"/>
                </a:solidFill>
                <a:latin typeface="Outfit"/>
                <a:ea typeface="Outfit"/>
                <a:cs typeface="Outfit"/>
              </a:rPr>
              <a:t>•  Crisis resources</a:t>
            </a:r>
          </a:p>
          <a:p>
            <a:pPr>
              <a:spcAft>
                <a:spcPts val="500"/>
              </a:spcAft>
            </a:pPr>
            <a:r>
              <a:rPr sz="1200" b="0">
                <a:solidFill>
                  <a:srgbClr val="1C2420"/>
                </a:solidFill>
                <a:latin typeface="Outfit"/>
                <a:ea typeface="Outfit"/>
                <a:cs typeface="Outfit"/>
              </a:rPr>
              <a:t>•  Export / delete</a:t>
            </a:r>
          </a:p>
        </p:txBody>
      </p:sp>
      <p:sp>
        <p:nvSpPr>
          <p:cNvPr id="9" name="Rectangle 8"/>
          <p:cNvSpPr/>
          <p:nvPr/>
        </p:nvSpPr>
        <p:spPr>
          <a:xfrm>
            <a:off x="3474720" y="1645920"/>
            <a:ext cx="2743200" cy="42976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Oppuna Plus</a:t>
            </a:r>
          </a:p>
        </p:txBody>
      </p:sp>
      <p:sp>
        <p:nvSpPr>
          <p:cNvPr id="11" name="TextBox 10"/>
          <p:cNvSpPr txBox="1"/>
          <p:nvPr/>
        </p:nvSpPr>
        <p:spPr>
          <a:xfrm>
            <a:off x="361188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In development / hypothesis</a:t>
            </a:r>
          </a:p>
        </p:txBody>
      </p:sp>
      <p:sp>
        <p:nvSpPr>
          <p:cNvPr id="12" name="TextBox 11"/>
          <p:cNvSpPr txBox="1"/>
          <p:nvPr/>
        </p:nvSpPr>
        <p:spPr>
          <a:xfrm>
            <a:off x="356616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Stronger on-device models</a:t>
            </a:r>
          </a:p>
          <a:p>
            <a:pPr>
              <a:spcAft>
                <a:spcPts val="500"/>
              </a:spcAft>
            </a:pPr>
            <a:r>
              <a:rPr sz="1200" b="0">
                <a:solidFill>
                  <a:srgbClr val="1C2420"/>
                </a:solidFill>
                <a:latin typeface="Outfit"/>
                <a:ea typeface="Outfit"/>
                <a:cs typeface="Outfit"/>
              </a:rPr>
              <a:t>•  Natural voice</a:t>
            </a:r>
          </a:p>
          <a:p>
            <a:pPr>
              <a:spcAft>
                <a:spcPts val="500"/>
              </a:spcAft>
            </a:pPr>
            <a:r>
              <a:rPr sz="1200" b="0">
                <a:solidFill>
                  <a:srgbClr val="1C2420"/>
                </a:solidFill>
                <a:latin typeface="Outfit"/>
                <a:ea typeface="Outfit"/>
                <a:cs typeface="Outfit"/>
              </a:rPr>
              <a:t>•  Personalised journeys</a:t>
            </a:r>
          </a:p>
          <a:p>
            <a:pPr>
              <a:spcAft>
                <a:spcPts val="500"/>
              </a:spcAft>
            </a:pPr>
            <a:r>
              <a:rPr sz="1200" b="0">
                <a:solidFill>
                  <a:srgbClr val="1C2420"/>
                </a:solidFill>
                <a:latin typeface="Outfit"/>
                <a:ea typeface="Outfit"/>
                <a:cs typeface="Outfit"/>
              </a:rPr>
              <a:t>•  Deeper insights</a:t>
            </a:r>
          </a:p>
          <a:p>
            <a:pPr>
              <a:spcAft>
                <a:spcPts val="500"/>
              </a:spcAft>
            </a:pPr>
            <a:r>
              <a:rPr sz="1200" b="0">
                <a:solidFill>
                  <a:srgbClr val="1C2420"/>
                </a:solidFill>
                <a:latin typeface="Outfit"/>
                <a:ea typeface="Outfit"/>
                <a:cs typeface="Outfit"/>
              </a:rPr>
              <a:t>•  Longitudinal summaries</a:t>
            </a:r>
          </a:p>
          <a:p>
            <a:pPr>
              <a:spcAft>
                <a:spcPts val="500"/>
              </a:spcAft>
            </a:pPr>
            <a:r>
              <a:rPr sz="1200" b="0">
                <a:solidFill>
                  <a:srgbClr val="1C2420"/>
                </a:solidFill>
                <a:latin typeface="Outfit"/>
                <a:ea typeface="Outfit"/>
                <a:cs typeface="Outfit"/>
              </a:rPr>
              <a:t>•  Encrypted backup*</a:t>
            </a:r>
          </a:p>
          <a:p>
            <a:pPr>
              <a:spcAft>
                <a:spcPts val="500"/>
              </a:spcAft>
            </a:pPr>
            <a:r>
              <a:rPr sz="1200" b="0">
                <a:solidFill>
                  <a:srgbClr val="1C2420"/>
                </a:solidFill>
                <a:latin typeface="Outfit"/>
                <a:ea typeface="Outfit"/>
                <a:cs typeface="Outfit"/>
              </a:rPr>
              <a:t>•  Device migration*</a:t>
            </a:r>
          </a:p>
        </p:txBody>
      </p:sp>
      <p:sp>
        <p:nvSpPr>
          <p:cNvPr id="13" name="Rectangle 12"/>
          <p:cNvSpPr/>
          <p:nvPr/>
        </p:nvSpPr>
        <p:spPr>
          <a:xfrm>
            <a:off x="6355080" y="1645920"/>
            <a:ext cx="274320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Institutional</a:t>
            </a:r>
          </a:p>
        </p:txBody>
      </p:sp>
      <p:sp>
        <p:nvSpPr>
          <p:cNvPr id="15" name="TextBox 14"/>
          <p:cNvSpPr txBox="1"/>
          <p:nvPr/>
        </p:nvSpPr>
        <p:spPr>
          <a:xfrm>
            <a:off x="649224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Future</a:t>
            </a:r>
          </a:p>
        </p:txBody>
      </p:sp>
      <p:sp>
        <p:nvSpPr>
          <p:cNvPr id="16" name="TextBox 15"/>
          <p:cNvSpPr txBox="1"/>
          <p:nvPr/>
        </p:nvSpPr>
        <p:spPr>
          <a:xfrm>
            <a:off x="644652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Sponsored access</a:t>
            </a:r>
          </a:p>
          <a:p>
            <a:pPr>
              <a:spcAft>
                <a:spcPts val="500"/>
              </a:spcAft>
            </a:pPr>
            <a:r>
              <a:rPr sz="1200" b="0">
                <a:solidFill>
                  <a:srgbClr val="1C2420"/>
                </a:solidFill>
                <a:latin typeface="Outfit"/>
                <a:ea typeface="Outfit"/>
                <a:cs typeface="Outfit"/>
              </a:rPr>
              <a:t>•  Employer pilots</a:t>
            </a:r>
          </a:p>
          <a:p>
            <a:pPr>
              <a:spcAft>
                <a:spcPts val="500"/>
              </a:spcAft>
            </a:pPr>
            <a:r>
              <a:rPr sz="1200" b="0">
                <a:solidFill>
                  <a:srgbClr val="1C2420"/>
                </a:solidFill>
                <a:latin typeface="Outfit"/>
                <a:ea typeface="Outfit"/>
                <a:cs typeface="Outfit"/>
              </a:rPr>
              <a:t>•  NGO / CSR programs</a:t>
            </a:r>
          </a:p>
          <a:p>
            <a:pPr>
              <a:spcAft>
                <a:spcPts val="500"/>
              </a:spcAft>
            </a:pPr>
            <a:r>
              <a:rPr sz="1200" b="0">
                <a:solidFill>
                  <a:srgbClr val="1C2420"/>
                </a:solidFill>
                <a:latin typeface="Outfit"/>
                <a:ea typeface="Outfit"/>
                <a:cs typeface="Outfit"/>
              </a:rPr>
              <a:t>•  Public-wellness pilots</a:t>
            </a:r>
          </a:p>
          <a:p>
            <a:pPr>
              <a:spcAft>
                <a:spcPts val="500"/>
              </a:spcAft>
            </a:pPr>
            <a:r>
              <a:rPr sz="1200" b="0">
                <a:solidFill>
                  <a:srgbClr val="1C2420"/>
                </a:solidFill>
                <a:latin typeface="Outfit"/>
                <a:ea typeface="Outfit"/>
                <a:cs typeface="Outfit"/>
              </a:rPr>
              <a:t>•  No sale of user data</a:t>
            </a:r>
          </a:p>
        </p:txBody>
      </p:sp>
      <p:sp>
        <p:nvSpPr>
          <p:cNvPr id="17" name="Rectangle 16"/>
          <p:cNvSpPr/>
          <p:nvPr/>
        </p:nvSpPr>
        <p:spPr>
          <a:xfrm>
            <a:off x="9235440" y="1645920"/>
            <a:ext cx="2743200" cy="42976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7260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SDK / platform</a:t>
            </a:r>
          </a:p>
        </p:txBody>
      </p:sp>
      <p:sp>
        <p:nvSpPr>
          <p:cNvPr id="19" name="TextBox 18"/>
          <p:cNvSpPr txBox="1"/>
          <p:nvPr/>
        </p:nvSpPr>
        <p:spPr>
          <a:xfrm>
            <a:off x="937260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Longer-term</a:t>
            </a:r>
          </a:p>
        </p:txBody>
      </p:sp>
      <p:sp>
        <p:nvSpPr>
          <p:cNvPr id="20" name="TextBox 19"/>
          <p:cNvSpPr txBox="1"/>
          <p:nvPr/>
        </p:nvSpPr>
        <p:spPr>
          <a:xfrm>
            <a:off x="932688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Privacy-first engine</a:t>
            </a:r>
          </a:p>
          <a:p>
            <a:pPr>
              <a:spcAft>
                <a:spcPts val="500"/>
              </a:spcAft>
            </a:pPr>
            <a:r>
              <a:rPr sz="1200" b="0">
                <a:solidFill>
                  <a:srgbClr val="1C2420"/>
                </a:solidFill>
                <a:latin typeface="Outfit"/>
                <a:ea typeface="Outfit"/>
                <a:cs typeface="Outfit"/>
              </a:rPr>
              <a:t>•  White-label path</a:t>
            </a:r>
          </a:p>
          <a:p>
            <a:pPr>
              <a:spcAft>
                <a:spcPts val="500"/>
              </a:spcAft>
            </a:pPr>
            <a:r>
              <a:rPr sz="1200" b="0">
                <a:solidFill>
                  <a:srgbClr val="1C2420"/>
                </a:solidFill>
                <a:latin typeface="Outfit"/>
                <a:ea typeface="Outfit"/>
                <a:cs typeface="Outfit"/>
              </a:rPr>
              <a:t>•  Partner integrations</a:t>
            </a:r>
          </a:p>
          <a:p>
            <a:pPr>
              <a:spcAft>
                <a:spcPts val="500"/>
              </a:spcAft>
            </a:pPr>
            <a:r>
              <a:rPr sz="1200" b="0">
                <a:solidFill>
                  <a:srgbClr val="1C2420"/>
                </a:solidFill>
                <a:latin typeface="Outfit"/>
                <a:ea typeface="Outfit"/>
                <a:cs typeface="Outfit"/>
              </a:rPr>
              <a:t>•  Local-model packaging</a:t>
            </a:r>
          </a:p>
          <a:p>
            <a:pPr>
              <a:spcAft>
                <a:spcPts val="500"/>
              </a:spcAft>
            </a:pPr>
            <a:r>
              <a:rPr sz="1200" b="0">
                <a:solidFill>
                  <a:srgbClr val="1C2420"/>
                </a:solidFill>
                <a:latin typeface="Outfit"/>
                <a:ea typeface="Outfit"/>
                <a:cs typeface="Outfit"/>
              </a:rPr>
              <a:t>•  Safety workflows</a:t>
            </a:r>
          </a:p>
        </p:txBody>
      </p:sp>
      <p:sp>
        <p:nvSpPr>
          <p:cNvPr id="21" name="TextBox 20"/>
          <p:cNvSpPr txBox="1"/>
          <p:nvPr/>
        </p:nvSpPr>
        <p:spPr>
          <a:xfrm>
            <a:off x="594360" y="6080760"/>
            <a:ext cx="10972800" cy="274320"/>
          </a:xfrm>
          <a:prstGeom prst="rect">
            <a:avLst/>
          </a:prstGeom>
          <a:noFill/>
        </p:spPr>
        <p:txBody>
          <a:bodyPr wrap="square" anchor="t">
            <a:spAutoFit/>
          </a:bodyPr>
          <a:lstStyle/>
          <a:p>
            <a:pPr algn="l"/>
            <a:r>
              <a:rPr sz="1200" b="0">
                <a:solidFill>
                  <a:srgbClr val="5A675F"/>
                </a:solidFill>
                <a:latin typeface="Outfit"/>
                <a:ea typeface="Outfit"/>
                <a:cs typeface="Outfit"/>
              </a:rPr>
              <a:t>* Future / hypothesis — not shipped. Roadmap items are not existing features.</a:t>
            </a:r>
          </a:p>
        </p:txBody>
      </p:sp>
      <p:sp>
        <p:nvSpPr>
          <p:cNvPr id="22" name="TextBox 21"/>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23" name="TextBox 22"/>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Sources</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4</a:t>
            </a:r>
          </a:p>
        </p:txBody>
      </p:sp>
      <p:sp>
        <p:nvSpPr>
          <p:cNvPr id="5" name="TextBox 4"/>
          <p:cNvSpPr txBox="1"/>
          <p:nvPr/>
        </p:nvSpPr>
        <p:spPr>
          <a:xfrm>
            <a:off x="594360" y="1645920"/>
            <a:ext cx="10972800" cy="4480560"/>
          </a:xfrm>
          <a:prstGeom prst="rect">
            <a:avLst/>
          </a:prstGeom>
          <a:noFill/>
        </p:spPr>
        <p:txBody>
          <a:bodyPr wrap="square">
            <a:spAutoFit/>
          </a:bodyPr>
          <a:lstStyle/>
          <a:p>
            <a:pPr>
              <a:spcAft>
                <a:spcPts val="600"/>
              </a:spcAft>
            </a:pPr>
            <a:r>
              <a:rPr sz="1200" b="0">
                <a:solidFill>
                  <a:srgbClr val="1C2420"/>
                </a:solidFill>
                <a:latin typeface="Outfit"/>
                <a:ea typeface="Outfit"/>
                <a:cs typeface="Outfit"/>
              </a:rPr>
              <a:t>•  Koraga verb root “oppu”: D. N. Shankara Bhat, The Koraga Language — https://dnshankarabhat.net/wp-content/uploads/2014/11/Koraga_Language.pdf</a:t>
            </a:r>
          </a:p>
          <a:p>
            <a:pPr>
              <a:spcAft>
                <a:spcPts val="600"/>
              </a:spcAft>
            </a:pPr>
            <a:r>
              <a:rPr sz="1200" b="0">
                <a:solidFill>
                  <a:srgbClr val="1C2420"/>
                </a:solidFill>
                <a:latin typeface="Outfit"/>
                <a:ea typeface="Outfit"/>
                <a:cs typeface="Outfit"/>
              </a:rPr>
              <a:t>•  India mental-health context: NIMHANS National Mental Health Survey 2015–16 — WHO SEARO summary; PIB releases citing NMHS.</a:t>
            </a:r>
          </a:p>
          <a:p>
            <a:pPr>
              <a:spcAft>
                <a:spcPts val="600"/>
              </a:spcAft>
            </a:pPr>
            <a:r>
              <a:rPr sz="1200" b="0">
                <a:solidFill>
                  <a:srgbClr val="1C2420"/>
                </a:solidFill>
                <a:latin typeface="Outfit"/>
                <a:ea typeface="Outfit"/>
                <a:cs typeface="Outfit"/>
              </a:rPr>
              <a:t>•  India internet users: IAMAI–Kantar Internet in India Report 2025 (958M active internet users).</a:t>
            </a:r>
          </a:p>
          <a:p>
            <a:pPr>
              <a:spcAft>
                <a:spcPts val="600"/>
              </a:spcAft>
            </a:pPr>
            <a:r>
              <a:rPr sz="1200" b="0">
                <a:solidFill>
                  <a:srgbClr val="1C2420"/>
                </a:solidFill>
                <a:latin typeface="Outfit"/>
                <a:ea typeface="Outfit"/>
                <a:cs typeface="Outfit"/>
              </a:rPr>
              <a:t>•  Android share (India mobile OS traffic): Statcounter Global Stats — https://gs.statcounter.com/os-market-share/mobile/india/</a:t>
            </a:r>
          </a:p>
          <a:p>
            <a:pPr>
              <a:spcAft>
                <a:spcPts val="600"/>
              </a:spcAft>
            </a:pPr>
            <a:r>
              <a:rPr sz="1200" b="0">
                <a:solidFill>
                  <a:srgbClr val="1C2420"/>
                </a:solidFill>
                <a:latin typeface="Outfit"/>
                <a:ea typeface="Outfit"/>
                <a:cs typeface="Outfit"/>
              </a:rPr>
              <a:t>•  Oppuna product, privacy and positioning: https://oppuna.com · https://oppuna.com/privacy/</a:t>
            </a:r>
          </a:p>
          <a:p>
            <a:pPr>
              <a:spcAft>
                <a:spcPts val="600"/>
              </a:spcAft>
            </a:pPr>
            <a:r>
              <a:rPr sz="1200" b="0">
                <a:solidFill>
                  <a:srgbClr val="1C2420"/>
                </a:solidFill>
                <a:latin typeface="Outfit"/>
                <a:ea typeface="Outfit"/>
                <a:cs typeface="Outfit"/>
              </a:rPr>
              <a:t>•  Google Play listing: https://play.google.com/store/apps/details?id=com.oppuna.care</a:t>
            </a:r>
          </a:p>
          <a:p>
            <a:pPr>
              <a:spcAft>
                <a:spcPts val="600"/>
              </a:spcAft>
            </a:pPr>
            <a:r>
              <a:rPr sz="1200" b="0">
                <a:solidFill>
                  <a:srgbClr val="1C2420"/>
                </a:solidFill>
                <a:latin typeface="Outfit"/>
                <a:ea typeface="Outfit"/>
                <a:cs typeface="Outfit"/>
              </a:rPr>
              <a:t>•  Wysa cloud/server processing and privacy: https://legal.wysa.io/privacy-policy · https://www.wysa.com/faq</a:t>
            </a:r>
          </a:p>
          <a:p>
            <a:pPr>
              <a:spcAft>
                <a:spcPts val="600"/>
              </a:spcAft>
            </a:pPr>
            <a:r>
              <a:rPr sz="1200" b="0">
                <a:solidFill>
                  <a:srgbClr val="1C2420"/>
                </a:solidFill>
                <a:latin typeface="Outfit"/>
                <a:ea typeface="Outfit"/>
                <a:cs typeface="Outfit"/>
              </a:rPr>
              <a:t>•  Calm / Headspace: subscription content platforms; vendor help centres document offline playback of downloaded content.</a:t>
            </a:r>
          </a:p>
          <a:p>
            <a:pPr>
              <a:spcAft>
                <a:spcPts val="600"/>
              </a:spcAft>
            </a:pPr>
            <a:r>
              <a:rPr sz="1200" b="0">
                <a:solidFill>
                  <a:srgbClr val="1C2420"/>
                </a:solidFill>
                <a:latin typeface="Outfit"/>
                <a:ea typeface="Outfit"/>
                <a:cs typeface="Outfit"/>
              </a:rPr>
              <a:t>•  Traction (80–100 users; ~90% return during observation): founder-reported early-user tracking, Aug 2026.</a:t>
            </a:r>
          </a:p>
          <a:p>
            <a:pPr>
              <a:spcAft>
                <a:spcPts val="600"/>
              </a:spcAft>
            </a:pPr>
            <a:r>
              <a:rPr sz="1200" b="0">
                <a:solidFill>
                  <a:srgbClr val="1C2420"/>
                </a:solidFill>
                <a:latin typeface="Outfit"/>
                <a:ea typeface="Outfit"/>
                <a:cs typeface="Outfit"/>
              </a:rPr>
              <a:t>•  Raise plan (₹1 crore / 18 months / milestones): founder fundraising brief, Aug 2026.</a:t>
            </a:r>
          </a:p>
        </p:txBody>
      </p:sp>
      <p:sp>
        <p:nvSpPr>
          <p:cNvPr id="6" name="TextBox 5"/>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7" name="TextBox 6"/>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