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(~40s)
Open with the product in hand: Oppuna is already live on Android as a private, offline-first emotional-wellness companion.
Promise: useful everyday support without accounts, cloud processing, ads, or invasive tracking.
Ask: a fundraising or strategic-partnership conversation.
SOURCES
- Product site: https://oppuna.com
- Google Play: https://play.google.com/store/apps/details?id=com.oppuna.care
- Cover screenshot: live Google Play listing creative for Oppuna (com.oppuna.care), retrieved Aug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(~40s)
Explain the name with restraint: Oppuna is coined and Koraga-inspired. Do not claim a dictionary translation for the full word.
oppu = to be agreeable / in accord. Brand interpretation: meet people where they are, without judgement.
Honour the Koraga community of coastal Karnataka through language and dignity—not costume imagery.
SOURCES
- D. N. Shankara Bhat, The Koraga Language: https://dnshankarabhat.net/wp-content/uploads/2014/11/Koraga_Language.pdf
  (documents the Koraga verb root oppu: “to be agreeable / to be in accord”).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(~50s)
Frame three connected barriers—privacy, access, trust—without medicalising the product.
Use India evidence to show scale and access gap, then pivot: Oppuna is for everyday wellness, not treatment.
SOURCES
- NIMHANS / National Mental Health Survey of India 2015–16: current mental morbidity ~10.6%; lifetime ~13.7%; treatment gap commonly reported 70–92% across disorders. Summary: https://cdn.who.int/media/docs/default-source/searo/india/health-topic-pdf/summary.pdf ; PIB reference: https://www.pib.gov.in/PressReleasePage.aspx?PRID=2188003
- IAMAI–Kantar Internet in India Report 2025: 958 million active internet users. Press PDF: https://www.indiadigitalsummit.in/wp-content/uploads/2026/01/Internet-in-India-2025-Press-Release-Final.pdf
- Statcounter Mobile OS share India (Mar 2025 snapshot): Android ~94.8%. https://gs.statcounter.com/os-market-share/mobile/india/
- Product positioning (wellness, not therapy): https://oppuna.com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(~45s)
State the solution plainly: private information remains under the user’s control on the Android device.
Clarify: general wellness and self-reflection—not therapy, diagnosis, a medical device, or emergency care.
SOURCES
- Confirmed capabilities and privacy claims: https://oppuna.com and https://oppuna.com/privacy/
- Screenshot: Google Play listing creative for Oppuna Journal screen, Aug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(~50s)
Walk the journey: mood → plan → practices (journal / breathe / companion) → patterns over time.
Mention verified capabilities: mood check-ins, private journaling, personalised daily plans, breathing/grounding, sleep wind-down, local voice notes, on-device companion, export/delete, English/Hindi/Spanish, crisis-resource guidance, offline use.
SOURCES
- Product feature inventory &amp; website: https://oppuna.com
- Languages verified in marketing configuration / app FAQ: English, Hindi, Spanish
- Screenshots: official Google Play listing creatives (splash, Today’s Care, Journal), Aug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(~45s)
Show architecture as product strategy: privacy is not a policy add-on.
Safety: local crisis-resource guidance + deterministic checks; do not overclaim.
SOURCES
- Architecture / privacy description: https://oppuna.com and https://oppuna.com/privacy/
- Crisis resources referenced on site: 112, Tele-MANAS, KIRAN (official government pages linked from oppuna.com).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(~40s)
Lead with the two metrics. Use exact audience wording: “Approximately 90% of our early users have returned during the current observation period.”
Do not call this D7/D30/DAU/MAU until cohort windows are defined.
No invented downloads, revenue, ratings, or testimonials.
SOURCES
- Traction figures: founder-reported internal early-user tracking (Aug 2026 brief)
- Distribution: Google Play listing https://play.google.com/store/apps/details?id=com.oppuna.care
- Website: https://oppuna.com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(~55s)
Tell a bottom-up India story. Do not use unsupported global mental-health market dollars.
Clarify wellness vs clinical patients.
SOURCES / ASSUMPTIONS
- IAMAI–Kantar 2025: 958M active internet users in India.
- Statcounter India mobile OS (Mar 2025): Android ~94.8% → TAM ≈ Android-addressable internet users (~900M+).
- SAM: planning assumption that 5–10% of AIU may be addressable for digital self-reflection / wellness tools (not a published market size). Cite as hypothesis.
- SOM: internal near-term beachhead 1,000 → 50,000 active users for validation.
- NMHS for clinical context only (not Oppuna TAM): ~10.6% current mental morbidity; large treatment gap.
- IDC India smartphone shipments 2024: 151M units (device market context): https://my.idc.com/getdoc.jsp?containerId=prAP53185725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(~45s)
Emphasise principled monetisation: expand capability, never withdraw essential support.
Institutional revenue sponsors access; does not buy user emotional data.
SOURCES
- Business principles and premium hypothesis: founder strategy brief, Aug 2026
- Product free-core capabilities verified on https://oppuna.com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(~40s)
Premium is optional and under validation. Never describe as AI therapy; no clinical-effectiveness claims.
Repeat: no ads, no information selling, no per-message charging.
SOURCES
- Free vs Plus capability split: founder product roadmap brief, Aug 2026
- Current shipped free capabilities: https://oppuna.com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(~40s)
Sequence trust before scale. Do not invent signed partnerships.
Next validation milestone: 1,000 active users.
SOURCES
- GTM sequence and 1,000-user milestone: founder strategy brief, Aug 2026
- Current distribution channel: Google Play listing for com.oppuna.care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(~50s)
Do not claim Oppuna is the only product globally. Compete on architecture dimensions that are defensible.
No patent/proprietary-dataset claims.
SOURCES
- Wysa Play listing / product positioning: https://play.google.com/store/apps/details?id=bot.touchkin
- Calm / Headspace: public consumer products (account + cloud content libraries)
- Cloud AI chatbot category: representative cloud-routed companions (e.g. Woebot-class products)
- Oppuna capabilities: https://oppuna.com
Comparison reflects publicly described architectures as of research date Aug 2026; verify before final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(~45s)
Founder narrative: after a decade building systems for banks and enterprises, Kaushik examined what happens when AI handles private thoughts. Most wellness products still require cloud, accounts, connectivity or subscriptions—creating a trust barrier. Oppuna demonstrates useful support that can remain privately on the phone.
Do not invent personal hardship or mental-health conditions.
Co-founder details remain placeholders until verified.
SOURCES
- Founder facts and narrative: founder brief, Aug 2026
- Product execution evidence: live Android app on Google Play; website https://oppuna.com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(~45s)
Close on the partnership ask. Leave placeholders visible until fundraising strategy is final—do not invent amount/valuation.
CTA: schedule a fundraising or strategic-partnership conversation.
End on the privacy line; no generic thank-you slide.
SOURCES
- Contact and product URLs: https://oppuna.com ; mailto:support@oppuna.com
- Play QR target: https://play.google.com/store/apps/details?id=com.oppuna.care
- Raise fields: placeholders pending final fundraising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(optional)
Use only if asked about retention quality.
SOURCES
- Founder-reported early-user tracking brief, Aug 2026
- Future source of truth candidate: Google Play Console retention reports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(optional)
Deep-dive for technical diligence.
SOURCES
- https://oppuna.com/privacy/
- https://oppuna.com (architecture / offline claims)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(optional)
Detail for product / partnership diligence. Keep premium and institutional paths clearly non-exploitative of user data.
SOURCES
- Roadmap items: founder strategy brief, Aug 2026
- Shipped free capabilities: https://oppuna.com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2F5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737360"/>
            <a:ext cx="3749039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>
                <a:solidFill>
                  <a:srgbClr val="FFFFFF"/>
                </a:solidFill>
                <a:latin typeface="Fraunces"/>
                <a:ea typeface="Fraunces"/>
                <a:cs typeface="Fraunces"/>
              </a:rPr>
              <a:t>Oppuna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374903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DCE8E2"/>
                </a:solidFill>
                <a:latin typeface="Fraunces"/>
                <a:ea typeface="Fraunces"/>
                <a:cs typeface="Fraunces"/>
              </a:rPr>
              <a:t>Private AI for your thoughts.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3749039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Offline, private emotional wellness on Android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374903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DCE8E2"/>
                </a:solidFill>
                <a:latin typeface="Outfit"/>
                <a:ea typeface="Outfit"/>
                <a:cs typeface="Outfit"/>
              </a:rPr>
              <a:t>https://oppuna.com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374903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Kaushik I B · Technical Founder
ADILAKSHMI INFOTECH PRIVATE LIMITED</a:t>
            </a:r>
          </a:p>
        </p:txBody>
      </p:sp>
      <p:pic>
        <p:nvPicPr>
          <p:cNvPr id="10" name="Picture 9" descr="screen_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502920"/>
            <a:ext cx="2923924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5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Dignity and privacy are not premium features.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1323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Oppuna is a coined, Koraga-inspired name. The Koraga verb root “oppu” means “to be agreeable” or “to be in accord.”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7132320" cy="1371600"/>
          </a:xfrm>
          <a:prstGeom prst="roundRect">
            <a:avLst>
              <a:gd name="adj" fmla="val 12000"/>
            </a:avLst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66751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“Oppuna represents meeting a person where they are—with agreement, dignity and without judgement.”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7132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The name honours the Koraga indigenous community of coastal Karnataka.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The product is dedicated to inclusion—and designed for a broad audience.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Technology should respect users before asking for trust.</a:t>
            </a:r>
          </a:p>
        </p:txBody>
      </p:sp>
      <p:pic>
        <p:nvPicPr>
          <p:cNvPr id="8" name="Picture 7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194560"/>
            <a:ext cx="201168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61120" y="4389120"/>
            <a:ext cx="2743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Living-leaf mark
Dignity, not spectacle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Oppuna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5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The most sensitive thoughts are still being asked to trust the cloud.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474720" cy="237744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9728" cy="2377440"/>
          </a:xfrm>
          <a:prstGeom prst="rect">
            <a:avLst/>
          </a:prstGeom>
          <a:solidFill>
            <a:srgbClr val="3D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Privacy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0360"/>
            <a:ext cx="29260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Vulnerable thoughts still pass through accounts, servers and third-party AI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74720" cy="237744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2011680"/>
            <a:ext cx="109728" cy="2377440"/>
          </a:xfrm>
          <a:prstGeom prst="rect">
            <a:avLst/>
          </a:prstGeom>
          <a:solidFill>
            <a:srgbClr val="3D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4028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80360"/>
            <a:ext cx="29260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Many products depend on continuous connectivity and subscriptions for basic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011680"/>
            <a:ext cx="3474720" cy="237744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2011680"/>
            <a:ext cx="109728" cy="2377440"/>
          </a:xfrm>
          <a:prstGeom prst="rect">
            <a:avLst/>
          </a:prstGeom>
          <a:solidFill>
            <a:srgbClr val="3D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224028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2880360"/>
            <a:ext cx="29260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People hesitate to open up when they do not control where their information goes.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10972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India context: ~10.6% of adults live with a current mental disorder (NMHS), with treatment gaps of ~70–92%. 958M active internet users (IAMAI–Kantar 2025), on a ~95% Android mobile OS base (Statcounter). Oppuna targets everyday self-reflection—not clinical diagnosis.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Oppuna ·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5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Oppuna keeps everyday wellness support on the phone.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4663440" cy="105156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No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Open and begin—no signup wall.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828800"/>
            <a:ext cx="4663440" cy="105156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01168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No cloud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37744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Journals, moods and chats stay local.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63240"/>
            <a:ext cx="4663440" cy="105156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No advertisements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No ads inside vulnerable moments.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3063240"/>
            <a:ext cx="4663440" cy="105156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324612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No invasive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61188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Support without selling attention.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97680"/>
            <a:ext cx="4663440" cy="105156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Works offline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Useful in airplane mode and low connectivity.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4297680"/>
            <a:ext cx="4663440" cy="105156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448056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User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484632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Local export and delete-all controls.</a:t>
            </a:r>
          </a:p>
        </p:txBody>
      </p:sp>
      <p:pic>
        <p:nvPicPr>
          <p:cNvPr id="22" name="Picture 21" descr="screen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737360"/>
            <a:ext cx="2192943" cy="4389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Oppuna ·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5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One private space for the small practices that build consistency.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2697480" cy="640080"/>
          </a:xfrm>
          <a:prstGeom prst="roundRect">
            <a:avLst>
              <a:gd name="adj" fmla="val 12000"/>
            </a:avLst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10512"/>
            <a:ext cx="2514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1. Check in with a mood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91640"/>
            <a:ext cx="2697480" cy="640080"/>
          </a:xfrm>
          <a:prstGeom prst="roundRect">
            <a:avLst>
              <a:gd name="adj" fmla="val 12000"/>
            </a:avLst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810512"/>
            <a:ext cx="2514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2. Receive a gentle daily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2697480" cy="640080"/>
          </a:xfrm>
          <a:prstGeom prst="roundRect">
            <a:avLst>
              <a:gd name="adj" fmla="val 12000"/>
            </a:avLst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2514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3. Journal, breathe, ground or talk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691640"/>
            <a:ext cx="2697480" cy="640080"/>
          </a:xfrm>
          <a:prstGeom prst="roundRect">
            <a:avLst>
              <a:gd name="adj" fmla="val 12000"/>
            </a:avLst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810512"/>
            <a:ext cx="2514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4. Return and observe patterns</a:t>
            </a:r>
          </a:p>
        </p:txBody>
      </p:sp>
      <p:pic>
        <p:nvPicPr>
          <p:cNvPr id="12" name="Picture 11" descr="screen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60320"/>
            <a:ext cx="1781766" cy="3566160"/>
          </a:xfrm>
          <a:prstGeom prst="rect">
            <a:avLst/>
          </a:prstGeom>
        </p:spPr>
      </p:pic>
      <p:pic>
        <p:nvPicPr>
          <p:cNvPr id="13" name="Picture 12" descr="screen_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560320"/>
            <a:ext cx="1781766" cy="3566160"/>
          </a:xfrm>
          <a:prstGeom prst="rect">
            <a:avLst/>
          </a:prstGeom>
        </p:spPr>
      </p:pic>
      <p:pic>
        <p:nvPicPr>
          <p:cNvPr id="14" name="Picture 13" descr="screen_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560320"/>
            <a:ext cx="1781766" cy="3566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Oppuna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5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Privacy is built into the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2743200" cy="118872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31720"/>
            <a:ext cx="246888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2103120"/>
            <a:ext cx="2743200" cy="118872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9080" y="2331720"/>
            <a:ext cx="246888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Android device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103120"/>
            <a:ext cx="2743200" cy="118872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2331720"/>
            <a:ext cx="246888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Local storage +
on-device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423160"/>
            <a:ext cx="365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3D6B5A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423160"/>
            <a:ext cx="365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3D6B5A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Journals, moods, voice notes and conversations remain on the device.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Deterministic safety logic and local crisis guidance complement the on-device companion.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Offline and airplane-mode operation are first-class product behaviours.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No claim of perfect safety, clinical validation, or certifications beyond what is verified.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Oppuna ·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5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Early users are coming 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4937760" cy="201168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40280"/>
            <a:ext cx="4480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80–100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4480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Early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4937760" cy="201168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240280"/>
            <a:ext cx="4480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~90%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971800"/>
            <a:ext cx="4480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Returning during observation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Even at an early stage, repeat usage indicates that privacy and offline access are resonating.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Live on Google Play · Production website at oppuna.com
* Based on founder-reported internal early-user tracking across approximately 80–100 users. Replace with a defined D7/D30 cohort before final investor distribution.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Oppuna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5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India is the starting point for private, accessible digital wellness.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6858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D6B5A"/>
                </a:solidFill>
                <a:latin typeface="Outfit"/>
                <a:ea typeface="Outfit"/>
                <a:cs typeface="Outfit"/>
              </a:rPr>
              <a:t>Initial wedge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6858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Android-first adults in India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Privacy-conscious users and inconsistent-connectivity contexts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Everyday self-reflection—not clinical treatment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Regional-language and underserved communities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783080"/>
            <a:ext cx="3840480" cy="402336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96596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D6B5A"/>
                </a:solidFill>
                <a:latin typeface="Outfit"/>
                <a:ea typeface="Outfit"/>
                <a:cs typeface="Outfit"/>
              </a:rPr>
              <a:t>Bottom-up sizing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37744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TAM  ~900M+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697480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Android-leaning internet users in India (958M AIU × ~95% Android)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33756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SAM  ~45–90M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657600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Adults open to digital self-reflection / wellness tools (assumptive 5–10% of AIU)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29768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SOM  1K → 50K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617720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Near-term validation beachhead of active users before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6858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Separate clearly: clinical mental-health prevalence (NMHS) shows need and stigma; Oppuna’s commercial wedge is general wellness users who want private, offline support. SAM/SOM are planning ranges, not purchased market reports.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Oppuna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5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Keep the core free; monetise expanded capability and distribution.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743200" cy="228600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3D6B5A"/>
                </a:solidFill>
                <a:latin typeface="Fraunces"/>
                <a:ea typeface="Fraunces"/>
                <a:cs typeface="Fraunce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Free consumer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Builds trust and daily usage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920240"/>
            <a:ext cx="2743200" cy="228600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19" y="21031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3D6B5A"/>
                </a:solidFill>
                <a:latin typeface="Fraunces"/>
                <a:ea typeface="Fraunces"/>
                <a:cs typeface="Fraunce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19" y="265176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Optional Oppuna 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19" y="338328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Advanced AI, voice, 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20240"/>
            <a:ext cx="2743200" cy="228600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3D6B5A"/>
                </a:solidFill>
                <a:latin typeface="Fraunces"/>
                <a:ea typeface="Fraunces"/>
                <a:cs typeface="Fraunce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5176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Institutional programs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8328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Employer, CSR, NGO, public wellness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59" y="1920240"/>
            <a:ext cx="2743200" cy="228600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39" y="21031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3D6B5A"/>
                </a:solidFill>
                <a:latin typeface="Fraunces"/>
                <a:ea typeface="Fraunces"/>
                <a:cs typeface="Fraunce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39" y="265176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SDK /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39" y="338328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License the privacy-first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7200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00600"/>
            <a:ext cx="104241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2F5446"/>
                </a:solidFill>
                <a:latin typeface="Outfit"/>
                <a:ea typeface="Outfit"/>
                <a:cs typeface="Outfit"/>
              </a:rPr>
              <a:t>Pricing hypothesis (not final): Oppuna Plus ₹99–₹199 / month.
Principles: no ads in vulnerable moments · no selling personal/emotional information · no per-message charging · core support stays free.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Oppuna ·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5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Premium adds depth without taking support away.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03520" cy="411480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846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Free core (always)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Basic on-device supportive companion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Mood check-ins, journaling, thought records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Breathing, grounding, sleep wind-down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Basic daily wellness plan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Crisis resources + local export/delete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303520" cy="4114800"/>
          </a:xfrm>
          <a:prstGeom prst="roundRect">
            <a:avLst>
              <a:gd name="adj" fmla="val 12000"/>
            </a:avLst>
          </a:prstGeom>
          <a:solidFill>
            <a:srgbClr val="2F5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846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Fraunces"/>
                <a:ea typeface="Fraunces"/>
                <a:cs typeface="Fraunces"/>
              </a:rPr>
              <a:t>Future Oppuna 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4688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CE8E2"/>
                </a:solidFill>
                <a:latin typeface="Outfit"/>
                <a:ea typeface="Outfit"/>
                <a:cs typeface="Outfit"/>
              </a:rPr>
              <a:t>•  More capable on-device AI models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CE8E2"/>
                </a:solidFill>
                <a:latin typeface="Outfit"/>
                <a:ea typeface="Outfit"/>
                <a:cs typeface="Outfit"/>
              </a:rPr>
              <a:t>•  Low-latency natural voice conversations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CE8E2"/>
                </a:solidFill>
                <a:latin typeface="Outfit"/>
                <a:ea typeface="Outfit"/>
                <a:cs typeface="Outfit"/>
              </a:rPr>
              <a:t>•  Deeper personalisation &amp; guided journeys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CE8E2"/>
                </a:solidFill>
                <a:latin typeface="Outfit"/>
                <a:ea typeface="Outfit"/>
                <a:cs typeface="Outfit"/>
              </a:rPr>
              <a:t>•  Advanced mood trends / progress summaries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CE8E2"/>
                </a:solidFill>
                <a:latin typeface="Outfit"/>
                <a:ea typeface="Outfit"/>
                <a:cs typeface="Outfit"/>
              </a:rPr>
              <a:t>•  User-controlled encrypted backup &amp; migration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Oppuna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5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Trust-led distribution can reach users conventional wellness apps miss.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7498079" cy="45720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56232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1.  Google Play + 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7498079" cy="457200"/>
          </a:xfrm>
          <a:prstGeom prst="roundRect">
            <a:avLst>
              <a:gd name="adj" fmla="val 12000"/>
            </a:avLst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04872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2.  Founder-led communities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7498079" cy="45720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53512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3.  Regional-language &amp; privacy content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7498079" cy="457200"/>
          </a:xfrm>
          <a:prstGeom prst="roundRect">
            <a:avLst>
              <a:gd name="adj" fmla="val 12000"/>
            </a:avLst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02152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4.  NGO / community partners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77639"/>
            <a:ext cx="7498079" cy="45720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50791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5.  CSR-sponsored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526280"/>
            <a:ext cx="7498079" cy="457200"/>
          </a:xfrm>
          <a:prstGeom prst="roundRect">
            <a:avLst>
              <a:gd name="adj" fmla="val 12000"/>
            </a:avLst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599432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6.  Employer &amp; institutional pilots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74920"/>
            <a:ext cx="7498079" cy="45720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48072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7.  Public-wellness / innovation programs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2103120"/>
            <a:ext cx="2926080" cy="2926080"/>
          </a:xfrm>
          <a:prstGeom prst="roundRect">
            <a:avLst>
              <a:gd name="adj" fmla="val 12000"/>
            </a:avLst>
          </a:prstGeom>
          <a:solidFill>
            <a:srgbClr val="3D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560320"/>
            <a:ext cx="2560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DCE8E2"/>
                </a:solidFill>
                <a:latin typeface="Outfit"/>
                <a:ea typeface="Outfit"/>
                <a:cs typeface="Outfit"/>
              </a:rPr>
              <a:t>Next milestone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200400"/>
            <a:ext cx="2560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Fraunces"/>
                <a:ea typeface="Fraunces"/>
                <a:cs typeface="Fraunces"/>
              </a:rPr>
              <a:t>1,000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02336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active users
for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Oppuna ·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5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Oppuna competes on architecture, not another content library.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37360"/>
            <a:ext cx="2377440" cy="411480"/>
          </a:xfrm>
          <a:prstGeom prst="rect">
            <a:avLst/>
          </a:prstGeom>
          <a:solidFill>
            <a:srgbClr val="2F5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10512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Outfit"/>
                <a:ea typeface="Outfit"/>
                <a:cs typeface="Outfit"/>
              </a:rPr>
              <a:t>Dimension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1737360"/>
            <a:ext cx="1920240" cy="411480"/>
          </a:xfrm>
          <a:prstGeom prst="rect">
            <a:avLst/>
          </a:prstGeom>
          <a:solidFill>
            <a:srgbClr val="2F5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810512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Outfit"/>
                <a:ea typeface="Outfit"/>
                <a:cs typeface="Outfit"/>
              </a:rPr>
              <a:t>Oppuna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737360"/>
            <a:ext cx="2103120" cy="411480"/>
          </a:xfrm>
          <a:prstGeom prst="rect">
            <a:avLst/>
          </a:prstGeom>
          <a:solidFill>
            <a:srgbClr val="2F5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810512"/>
            <a:ext cx="201167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Outfit"/>
                <a:ea typeface="Outfit"/>
                <a:cs typeface="Outfit"/>
              </a:rPr>
              <a:t>Wysa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1737360"/>
            <a:ext cx="2377440" cy="411480"/>
          </a:xfrm>
          <a:prstGeom prst="rect">
            <a:avLst/>
          </a:prstGeom>
          <a:solidFill>
            <a:srgbClr val="2F5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810512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Outfit"/>
                <a:ea typeface="Outfit"/>
                <a:cs typeface="Outfit"/>
              </a:rPr>
              <a:t>Calm / Headspace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1737360"/>
            <a:ext cx="2194560" cy="411480"/>
          </a:xfrm>
          <a:prstGeom prst="rect">
            <a:avLst/>
          </a:prstGeom>
          <a:solidFill>
            <a:srgbClr val="2F5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810512"/>
            <a:ext cx="2103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Outfit"/>
                <a:ea typeface="Outfit"/>
                <a:cs typeface="Outfit"/>
              </a:rPr>
              <a:t>Cloud AI chatbots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48840"/>
            <a:ext cx="237744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12848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C2420"/>
                </a:solidFill>
                <a:latin typeface="Outfit"/>
                <a:ea typeface="Outfit"/>
                <a:cs typeface="Outfit"/>
              </a:rPr>
              <a:t>Fully offline 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2148840"/>
            <a:ext cx="192024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2212848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Yes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2148840"/>
            <a:ext cx="210312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212848"/>
            <a:ext cx="20116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Limited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2148840"/>
            <a:ext cx="237744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212848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2148840"/>
            <a:ext cx="219456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212848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651760"/>
            <a:ext cx="2377440" cy="50292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715768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C2420"/>
                </a:solidFill>
                <a:latin typeface="Outfit"/>
                <a:ea typeface="Outfit"/>
                <a:cs typeface="Outfit"/>
              </a:rPr>
              <a:t>On-device intelligence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2651760"/>
            <a:ext cx="1920240" cy="50292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2715768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Yes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2651760"/>
            <a:ext cx="2103120" cy="50292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715768"/>
            <a:ext cx="20116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Cloud AI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2651760"/>
            <a:ext cx="2377440" cy="50292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2715768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Content / cloud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1160" y="2651760"/>
            <a:ext cx="2194560" cy="50292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2715768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Cloud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154680"/>
            <a:ext cx="237744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218688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C2420"/>
                </a:solidFill>
                <a:latin typeface="Outfit"/>
                <a:ea typeface="Outfit"/>
                <a:cs typeface="Outfit"/>
              </a:rPr>
              <a:t>No account required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360" y="3154680"/>
            <a:ext cx="192024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0" y="3218688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Yes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3154680"/>
            <a:ext cx="210312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3218688"/>
            <a:ext cx="20116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Anonymous options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3154680"/>
            <a:ext cx="237744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0" y="3218688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Account typical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1160" y="3154680"/>
            <a:ext cx="219456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3218688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Account typical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657600"/>
            <a:ext cx="2377440" cy="50292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3721608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C2420"/>
                </a:solidFill>
                <a:latin typeface="Outfit"/>
                <a:ea typeface="Outfit"/>
                <a:cs typeface="Outfit"/>
              </a:rPr>
              <a:t>No advertisements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80360" y="3657600"/>
            <a:ext cx="1920240" cy="50292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26080" y="3721608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Yes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3657600"/>
            <a:ext cx="2103120" cy="50292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0" y="3721608"/>
            <a:ext cx="20116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Consumer freemium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03720" y="3657600"/>
            <a:ext cx="2377440" cy="50292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3721608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Subscription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81160" y="3657600"/>
            <a:ext cx="2194560" cy="50292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0" y="3721608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Varies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160520"/>
            <a:ext cx="237744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224528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C2420"/>
                </a:solidFill>
                <a:latin typeface="Outfit"/>
                <a:ea typeface="Outfit"/>
                <a:cs typeface="Outfit"/>
              </a:rPr>
              <a:t>Local user control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80360" y="4160520"/>
            <a:ext cx="192024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26080" y="4224528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Yes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00600" y="4160520"/>
            <a:ext cx="210312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46320" y="4224528"/>
            <a:ext cx="20116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Policy + servers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03720" y="4160520"/>
            <a:ext cx="237744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49440" y="4224528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Cloud sync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81160" y="4160520"/>
            <a:ext cx="219456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26880" y="4224528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Cloud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4663440"/>
            <a:ext cx="2377440" cy="50292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4727448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C2420"/>
                </a:solidFill>
                <a:latin typeface="Outfit"/>
                <a:ea typeface="Outfit"/>
                <a:cs typeface="Outfit"/>
              </a:rPr>
              <a:t>India / multilingual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360" y="4663440"/>
            <a:ext cx="1920240" cy="50292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26080" y="4727448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EN·HI·ES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00600" y="4663440"/>
            <a:ext cx="2103120" cy="50292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46320" y="4727448"/>
            <a:ext cx="20116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Strong India focus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903720" y="4663440"/>
            <a:ext cx="2377440" cy="50292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49440" y="4727448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Global content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81160" y="4663440"/>
            <a:ext cx="2194560" cy="50292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26880" y="4727448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Varies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5166360"/>
            <a:ext cx="237744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5230368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C2420"/>
                </a:solidFill>
                <a:latin typeface="Outfit"/>
                <a:ea typeface="Outfit"/>
                <a:cs typeface="Outfit"/>
              </a:rPr>
              <a:t>SDK / platform path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880360" y="5166360"/>
            <a:ext cx="192024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26080" y="5230368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Planned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800600" y="5166360"/>
            <a:ext cx="210312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46320" y="5230368"/>
            <a:ext cx="20116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Enterprise focus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903720" y="5166360"/>
            <a:ext cx="237744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49440" y="5230368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B2B wellness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281160" y="5166360"/>
            <a:ext cx="2194560" cy="5029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326880" y="5230368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Platform APIs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Emerging moat: on-device architecture · local-model optimisation · safety-aware offline workflows · trust-led brand · multilingual UX · future SDK.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Oppuna · Confidential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5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The team combines enterprise experience with product execution.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94960" cy="411480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Kaushik I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3D6B5A"/>
                </a:solidFill>
                <a:latin typeface="Outfit"/>
                <a:ea typeface="Outfit"/>
                <a:cs typeface="Outfit"/>
              </a:rPr>
              <a:t>Technical 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10+ years in software architecture, cloud and AI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Enterprise systems across banking, FinTech and AI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TOGAF certified; Microsoft Teams ecosystem experience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Built Oppuna from architecture through Play launch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Currently building enterprise AI and agentic systems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212080" cy="4114800"/>
          </a:xfrm>
          <a:prstGeom prst="roundRect">
            <a:avLst>
              <a:gd name="adj" fmla="val 12000"/>
            </a:avLst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[CO-FOUNDER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3D6B5A"/>
                </a:solidFill>
                <a:latin typeface="Outfit"/>
                <a:ea typeface="Outfit"/>
                <a:cs typeface="Outfit"/>
              </a:rPr>
              <a:t>[ROLE]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8346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[Relevant professional experience]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[Product, business, clinical, operations or distribution strength]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[Specific contribution to Oppuna]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Oppuna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5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Fraunces"/>
                <a:ea typeface="Fraunces"/>
                <a:cs typeface="Fraunces"/>
              </a:rPr>
              <a:t>Help us make private wellness support accessible at population scale.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3A5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DCE8E2"/>
                </a:solidFill>
                <a:latin typeface="Outfit"/>
                <a:ea typeface="Outfit"/>
                <a:cs typeface="Outfit"/>
              </a:rPr>
              <a:t>Raising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Outfit"/>
                <a:ea typeface="Outfit"/>
                <a:cs typeface="Outfit"/>
              </a:rPr>
              <a:t>[AMOUNT]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3A5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830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DCE8E2"/>
                </a:solidFill>
                <a:latin typeface="Outfit"/>
                <a:ea typeface="Outfit"/>
                <a:cs typeface="Outfit"/>
              </a:rPr>
              <a:t>Runway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14884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Outfit"/>
                <a:ea typeface="Outfit"/>
                <a:cs typeface="Outfit"/>
              </a:rPr>
              <a:t>[NUMBER OF MONTHS]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64592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3A5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7830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DCE8E2"/>
                </a:solidFill>
                <a:latin typeface="Outfit"/>
                <a:ea typeface="Outfit"/>
                <a:cs typeface="Outfit"/>
              </a:rPr>
              <a:t>Next milestone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14884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Outfit"/>
                <a:ea typeface="Outfit"/>
                <a:cs typeface="Outfit"/>
              </a:rPr>
              <a:t>[ACTIVE USERS / PREMIUM BETA / PILOTS]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7772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Use of funds: product · local AI · safety · distribution · partnerships ·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772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DCE8E2"/>
                </a:solidFill>
                <a:latin typeface="Fraunces"/>
                <a:ea typeface="Fraunces"/>
                <a:cs typeface="Fraunces"/>
              </a:rPr>
              <a:t>Oppuna is building a future where receiving simple emotional-wellness support does not require surrendering privacy.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77840"/>
            <a:ext cx="7772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https://oppuna.com
support@oppuna.com</a:t>
            </a:r>
          </a:p>
        </p:txBody>
      </p:sp>
      <p:pic>
        <p:nvPicPr>
          <p:cNvPr id="16" name="Picture 15" descr="play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480560"/>
            <a:ext cx="1645920" cy="1645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0" y="617220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DCE8E2"/>
                </a:solidFill>
                <a:latin typeface="Outfit"/>
                <a:ea typeface="Outfit"/>
                <a:cs typeface="Outfit"/>
              </a:rPr>
              <a:t>Google Play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D6B5A"/>
                </a:solidFill>
                <a:latin typeface="Outfit"/>
                <a:ea typeface="Outfit"/>
                <a:cs typeface="Outfit"/>
              </a:rPr>
              <a:t>APPENDIX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5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Appendix · Retention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Current claim: approximately 90% of early users returned during the current observation period.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Population: founder-reported internal tracking across approximately 80–100 early users.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Not yet defined as D7, D30, monthly retention, DAU/MAU, or paid retention.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Before final investor distribution: publish cohort start date, observation window, return definition, and exclusion rules.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Recommended upgrade: report D1/D7/D30 for a frozen install cohort with Play Console as source of truth.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Oppuna ·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A1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D6B5A"/>
                </a:solidFill>
                <a:latin typeface="Outfit"/>
                <a:ea typeface="Outfit"/>
                <a:cs typeface="Outfit"/>
              </a:rPr>
              <a:t>APPENDIX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5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Appendix · Architecture and privacy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Client: Android application with local storage for journals, moods, voice notes and conversations.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Intelligence: on-device supportive companion with offline fallback guidance.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Safety: deterministic crisis logic + local crisis-resource presentation (not an emergency service).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Controls: local export and delete-all; optional biometric/device app lock where available.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Non-claims: no asserted clinical validation, no claimed certifications, no selling of emotional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Oppuna ·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A2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D6B5A"/>
                </a:solidFill>
                <a:latin typeface="Outfit"/>
                <a:ea typeface="Outfit"/>
                <a:cs typeface="Outfit"/>
              </a:rPr>
              <a:t>APPENDIX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500" b="1">
                <a:solidFill>
                  <a:srgbClr val="2F5446"/>
                </a:solidFill>
                <a:latin typeface="Fraunces"/>
                <a:ea typeface="Fraunces"/>
                <a:cs typeface="Fraunces"/>
              </a:rPr>
              <a:t>Appendix · Free, Plus, enterprise and SDK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2788920" cy="411480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2606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Companion basics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Mood + journal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Breath / ground / sleep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Daily plan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Crisis resources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Export / delete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788920" cy="4114800"/>
          </a:xfrm>
          <a:prstGeom prst="roundRect">
            <a:avLst>
              <a:gd name="adj" fmla="val 12000"/>
            </a:avLst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74519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Oppuna Plus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31720"/>
            <a:ext cx="2606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Stronger on-device models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Natural voice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Deeper personalisation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Longitudinal insights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Guided journeys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Encrypted backup*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737360"/>
            <a:ext cx="2788920" cy="4114800"/>
          </a:xfrm>
          <a:prstGeom prst="roundRect">
            <a:avLst>
              <a:gd name="adj" fmla="val 12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Enterprise / CSR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31720"/>
            <a:ext cx="2606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Sponsored access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Employer programs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NGO / community rollout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Public-wellness pilots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No sale of user data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Optional verified referrals**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737360"/>
            <a:ext cx="2788920" cy="4114800"/>
          </a:xfrm>
          <a:prstGeom prst="roundRect">
            <a:avLst>
              <a:gd name="adj" fmla="val 12000"/>
            </a:avLst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874519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F5446"/>
                </a:solidFill>
                <a:latin typeface="Outfit"/>
                <a:ea typeface="Outfit"/>
                <a:cs typeface="Outfit"/>
              </a:rPr>
              <a:t>SDK /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331720"/>
            <a:ext cx="2606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Privacy-first engine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White-label path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Partner integrations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Local-model packaging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Safety workflows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C2420"/>
                </a:solidFill>
                <a:latin typeface="Outfit"/>
                <a:ea typeface="Outfit"/>
                <a:cs typeface="Outfit"/>
              </a:rPr>
              <a:t>•  Distribution leverage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* User-controlled  ** Future, consent-based — not currently claimed as shipped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Oppuna ·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75F"/>
                </a:solidFill>
                <a:latin typeface="Outfit"/>
                <a:ea typeface="Outfit"/>
                <a:cs typeface="Outfit"/>
              </a:rPr>
              <a:t>A3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